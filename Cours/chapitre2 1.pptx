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60" r:id="rId2"/>
    <p:sldId id="424" r:id="rId3"/>
    <p:sldId id="269" r:id="rId4"/>
    <p:sldId id="377" r:id="rId5"/>
    <p:sldId id="425" r:id="rId6"/>
    <p:sldId id="426" r:id="rId7"/>
    <p:sldId id="427" r:id="rId8"/>
    <p:sldId id="428" r:id="rId9"/>
    <p:sldId id="429" r:id="rId10"/>
    <p:sldId id="431" r:id="rId11"/>
    <p:sldId id="430" r:id="rId12"/>
    <p:sldId id="432" r:id="rId13"/>
    <p:sldId id="434" r:id="rId14"/>
    <p:sldId id="433" r:id="rId15"/>
    <p:sldId id="436" r:id="rId16"/>
    <p:sldId id="437" r:id="rId17"/>
    <p:sldId id="439" r:id="rId18"/>
    <p:sldId id="404" r:id="rId19"/>
    <p:sldId id="440" r:id="rId20"/>
    <p:sldId id="441" r:id="rId21"/>
    <p:sldId id="442" r:id="rId22"/>
    <p:sldId id="443" r:id="rId23"/>
    <p:sldId id="459" r:id="rId24"/>
    <p:sldId id="444" r:id="rId25"/>
    <p:sldId id="449" r:id="rId26"/>
    <p:sldId id="460" r:id="rId27"/>
    <p:sldId id="445" r:id="rId28"/>
    <p:sldId id="448" r:id="rId29"/>
    <p:sldId id="461" r:id="rId30"/>
    <p:sldId id="446" r:id="rId31"/>
    <p:sldId id="450" r:id="rId32"/>
    <p:sldId id="462" r:id="rId33"/>
    <p:sldId id="451" r:id="rId34"/>
    <p:sldId id="452" r:id="rId35"/>
    <p:sldId id="463" r:id="rId36"/>
    <p:sldId id="453" r:id="rId37"/>
    <p:sldId id="454" r:id="rId38"/>
    <p:sldId id="455" r:id="rId39"/>
    <p:sldId id="456" r:id="rId40"/>
    <p:sldId id="457" r:id="rId41"/>
    <p:sldId id="403" r:id="rId42"/>
    <p:sldId id="458" r:id="rId43"/>
    <p:sldId id="280" r:id="rId44"/>
  </p:sldIdLst>
  <p:sldSz cx="12192000" cy="6858000"/>
  <p:notesSz cx="6858000" cy="9144000"/>
  <p:defaultTextStyle>
    <a:defPPr>
      <a:defRPr lang="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6"/>
    <a:srgbClr val="DEDEE6"/>
    <a:srgbClr val="767676"/>
    <a:srgbClr val="44445A"/>
    <a:srgbClr val="71D2E3"/>
    <a:srgbClr val="5B5B79"/>
    <a:srgbClr val="A7A7BD"/>
    <a:srgbClr val="A9A9BF"/>
    <a:srgbClr val="D9F2F7"/>
    <a:srgbClr val="B8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67" autoAdjust="0"/>
    <p:restoredTop sz="84063" autoAdjust="0"/>
  </p:normalViewPr>
  <p:slideViewPr>
    <p:cSldViewPr snapToGrid="0">
      <p:cViewPr varScale="1">
        <p:scale>
          <a:sx n="71" d="100"/>
          <a:sy n="71" d="100"/>
        </p:scale>
        <p:origin x="6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809" y="4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ucine  HAMANA" userId="9304277f-9594-439f-8eb5-f5aaa7e26c23" providerId="ADAL" clId="{A18C5F31-D356-4661-AA3F-97A63CE1A673}"/>
    <pc:docChg chg="undo custSel delSld modSld">
      <pc:chgData name="Houcine  HAMANA" userId="9304277f-9594-439f-8eb5-f5aaa7e26c23" providerId="ADAL" clId="{A18C5F31-D356-4661-AA3F-97A63CE1A673}" dt="2025-10-20T12:59:15.252" v="34" actId="1076"/>
      <pc:docMkLst>
        <pc:docMk/>
      </pc:docMkLst>
      <pc:sldChg chg="modSp mod">
        <pc:chgData name="Houcine  HAMANA" userId="9304277f-9594-439f-8eb5-f5aaa7e26c23" providerId="ADAL" clId="{A18C5F31-D356-4661-AA3F-97A63CE1A673}" dt="2025-10-20T12:55:52.346" v="2" actId="1036"/>
        <pc:sldMkLst>
          <pc:docMk/>
          <pc:sldMk cId="3294199062" sldId="269"/>
        </pc:sldMkLst>
        <pc:spChg chg="mod">
          <ac:chgData name="Houcine  HAMANA" userId="9304277f-9594-439f-8eb5-f5aaa7e26c23" providerId="ADAL" clId="{A18C5F31-D356-4661-AA3F-97A63CE1A673}" dt="2025-10-20T12:55:52.346" v="2" actId="1036"/>
          <ac:spMkLst>
            <pc:docMk/>
            <pc:sldMk cId="3294199062" sldId="269"/>
            <ac:spMk id="18" creationId="{2D14271A-5DC9-FBB6-E8E6-72CD528FE744}"/>
          </ac:spMkLst>
        </pc:spChg>
      </pc:sldChg>
      <pc:sldChg chg="modSp mod">
        <pc:chgData name="Houcine  HAMANA" userId="9304277f-9594-439f-8eb5-f5aaa7e26c23" providerId="ADAL" clId="{A18C5F31-D356-4661-AA3F-97A63CE1A673}" dt="2025-10-20T12:57:01.232" v="9" actId="1076"/>
        <pc:sldMkLst>
          <pc:docMk/>
          <pc:sldMk cId="2790470387" sldId="405"/>
        </pc:sldMkLst>
        <pc:spChg chg="mod">
          <ac:chgData name="Houcine  HAMANA" userId="9304277f-9594-439f-8eb5-f5aaa7e26c23" providerId="ADAL" clId="{A18C5F31-D356-4661-AA3F-97A63CE1A673}" dt="2025-10-20T12:57:01.232" v="9" actId="1076"/>
          <ac:spMkLst>
            <pc:docMk/>
            <pc:sldMk cId="2790470387" sldId="405"/>
            <ac:spMk id="6" creationId="{C105AEAD-0559-EE6E-05F8-FA9C223D4A88}"/>
          </ac:spMkLst>
        </pc:spChg>
      </pc:sldChg>
      <pc:sldChg chg="modSp mod">
        <pc:chgData name="Houcine  HAMANA" userId="9304277f-9594-439f-8eb5-f5aaa7e26c23" providerId="ADAL" clId="{A18C5F31-D356-4661-AA3F-97A63CE1A673}" dt="2025-10-20T12:57:20.208" v="12" actId="1076"/>
        <pc:sldMkLst>
          <pc:docMk/>
          <pc:sldMk cId="2496277296" sldId="406"/>
        </pc:sldMkLst>
        <pc:spChg chg="mod">
          <ac:chgData name="Houcine  HAMANA" userId="9304277f-9594-439f-8eb5-f5aaa7e26c23" providerId="ADAL" clId="{A18C5F31-D356-4661-AA3F-97A63CE1A673}" dt="2025-10-20T12:57:18.743" v="11" actId="255"/>
          <ac:spMkLst>
            <pc:docMk/>
            <pc:sldMk cId="2496277296" sldId="406"/>
            <ac:spMk id="6" creationId="{43FBA1A2-4787-92B7-8FB9-73B5CBC832A5}"/>
          </ac:spMkLst>
        </pc:spChg>
        <pc:picChg chg="mod">
          <ac:chgData name="Houcine  HAMANA" userId="9304277f-9594-439f-8eb5-f5aaa7e26c23" providerId="ADAL" clId="{A18C5F31-D356-4661-AA3F-97A63CE1A673}" dt="2025-10-20T12:57:20.208" v="12" actId="1076"/>
          <ac:picMkLst>
            <pc:docMk/>
            <pc:sldMk cId="2496277296" sldId="406"/>
            <ac:picMk id="4" creationId="{8BADDEBD-5CD7-D944-9473-50B68D5BDA6B}"/>
          </ac:picMkLst>
        </pc:picChg>
      </pc:sldChg>
      <pc:sldChg chg="modSp mod">
        <pc:chgData name="Houcine  HAMANA" userId="9304277f-9594-439f-8eb5-f5aaa7e26c23" providerId="ADAL" clId="{A18C5F31-D356-4661-AA3F-97A63CE1A673}" dt="2025-10-20T12:57:27.207" v="13" actId="255"/>
        <pc:sldMkLst>
          <pc:docMk/>
          <pc:sldMk cId="525123003" sldId="407"/>
        </pc:sldMkLst>
        <pc:spChg chg="mod">
          <ac:chgData name="Houcine  HAMANA" userId="9304277f-9594-439f-8eb5-f5aaa7e26c23" providerId="ADAL" clId="{A18C5F31-D356-4661-AA3F-97A63CE1A673}" dt="2025-10-20T12:57:27.207" v="13" actId="255"/>
          <ac:spMkLst>
            <pc:docMk/>
            <pc:sldMk cId="525123003" sldId="407"/>
            <ac:spMk id="6" creationId="{BB9F4202-DFC5-CF24-313E-701A3C4A8B6A}"/>
          </ac:spMkLst>
        </pc:spChg>
      </pc:sldChg>
      <pc:sldChg chg="modSp mod">
        <pc:chgData name="Houcine  HAMANA" userId="9304277f-9594-439f-8eb5-f5aaa7e26c23" providerId="ADAL" clId="{A18C5F31-D356-4661-AA3F-97A63CE1A673}" dt="2025-10-20T12:57:37.257" v="15" actId="1076"/>
        <pc:sldMkLst>
          <pc:docMk/>
          <pc:sldMk cId="2634815311" sldId="408"/>
        </pc:sldMkLst>
        <pc:spChg chg="mod">
          <ac:chgData name="Houcine  HAMANA" userId="9304277f-9594-439f-8eb5-f5aaa7e26c23" providerId="ADAL" clId="{A18C5F31-D356-4661-AA3F-97A63CE1A673}" dt="2025-10-20T12:57:32.915" v="14" actId="255"/>
          <ac:spMkLst>
            <pc:docMk/>
            <pc:sldMk cId="2634815311" sldId="408"/>
            <ac:spMk id="6" creationId="{01BCFBFD-257F-A421-288A-09BC3E53F074}"/>
          </ac:spMkLst>
        </pc:spChg>
        <pc:picChg chg="mod">
          <ac:chgData name="Houcine  HAMANA" userId="9304277f-9594-439f-8eb5-f5aaa7e26c23" providerId="ADAL" clId="{A18C5F31-D356-4661-AA3F-97A63CE1A673}" dt="2025-10-20T12:57:37.257" v="15" actId="1076"/>
          <ac:picMkLst>
            <pc:docMk/>
            <pc:sldMk cId="2634815311" sldId="408"/>
            <ac:picMk id="4" creationId="{5872817C-DEB4-B432-B2AA-6622DC33C41A}"/>
          </ac:picMkLst>
        </pc:picChg>
      </pc:sldChg>
      <pc:sldChg chg="del">
        <pc:chgData name="Houcine  HAMANA" userId="9304277f-9594-439f-8eb5-f5aaa7e26c23" providerId="ADAL" clId="{A18C5F31-D356-4661-AA3F-97A63CE1A673}" dt="2025-10-20T12:57:45.815" v="16" actId="47"/>
        <pc:sldMkLst>
          <pc:docMk/>
          <pc:sldMk cId="2737501210" sldId="409"/>
        </pc:sldMkLst>
      </pc:sldChg>
      <pc:sldChg chg="del">
        <pc:chgData name="Houcine  HAMANA" userId="9304277f-9594-439f-8eb5-f5aaa7e26c23" providerId="ADAL" clId="{A18C5F31-D356-4661-AA3F-97A63CE1A673}" dt="2025-10-20T12:57:48.533" v="17" actId="47"/>
        <pc:sldMkLst>
          <pc:docMk/>
          <pc:sldMk cId="2650267112" sldId="410"/>
        </pc:sldMkLst>
      </pc:sldChg>
      <pc:sldChg chg="del">
        <pc:chgData name="Houcine  HAMANA" userId="9304277f-9594-439f-8eb5-f5aaa7e26c23" providerId="ADAL" clId="{A18C5F31-D356-4661-AA3F-97A63CE1A673}" dt="2025-10-20T12:57:50.214" v="18" actId="47"/>
        <pc:sldMkLst>
          <pc:docMk/>
          <pc:sldMk cId="2940996647" sldId="412"/>
        </pc:sldMkLst>
      </pc:sldChg>
      <pc:sldChg chg="modSp mod">
        <pc:chgData name="Houcine  HAMANA" userId="9304277f-9594-439f-8eb5-f5aaa7e26c23" providerId="ADAL" clId="{A18C5F31-D356-4661-AA3F-97A63CE1A673}" dt="2025-10-20T12:56:48.237" v="7" actId="255"/>
        <pc:sldMkLst>
          <pc:docMk/>
          <pc:sldMk cId="3445283387" sldId="414"/>
        </pc:sldMkLst>
        <pc:spChg chg="mod">
          <ac:chgData name="Houcine  HAMANA" userId="9304277f-9594-439f-8eb5-f5aaa7e26c23" providerId="ADAL" clId="{A18C5F31-D356-4661-AA3F-97A63CE1A673}" dt="2025-10-20T12:56:48.237" v="7" actId="255"/>
          <ac:spMkLst>
            <pc:docMk/>
            <pc:sldMk cId="3445283387" sldId="414"/>
            <ac:spMk id="6" creationId="{42D6D6B1-490F-D6FD-66C6-119B02ACE405}"/>
          </ac:spMkLst>
        </pc:spChg>
      </pc:sldChg>
      <pc:sldChg chg="modSp mod">
        <pc:chgData name="Houcine  HAMANA" userId="9304277f-9594-439f-8eb5-f5aaa7e26c23" providerId="ADAL" clId="{A18C5F31-D356-4661-AA3F-97A63CE1A673}" dt="2025-10-20T12:58:12.907" v="23" actId="1076"/>
        <pc:sldMkLst>
          <pc:docMk/>
          <pc:sldMk cId="2958316936" sldId="415"/>
        </pc:sldMkLst>
        <pc:spChg chg="mod">
          <ac:chgData name="Houcine  HAMANA" userId="9304277f-9594-439f-8eb5-f5aaa7e26c23" providerId="ADAL" clId="{A18C5F31-D356-4661-AA3F-97A63CE1A673}" dt="2025-10-20T12:58:12.907" v="23" actId="1076"/>
          <ac:spMkLst>
            <pc:docMk/>
            <pc:sldMk cId="2958316936" sldId="415"/>
            <ac:spMk id="3" creationId="{518119F6-64D3-FF4A-6290-362E975BB940}"/>
          </ac:spMkLst>
        </pc:spChg>
        <pc:spChg chg="mod">
          <ac:chgData name="Houcine  HAMANA" userId="9304277f-9594-439f-8eb5-f5aaa7e26c23" providerId="ADAL" clId="{A18C5F31-D356-4661-AA3F-97A63CE1A673}" dt="2025-10-20T12:58:05.559" v="20" actId="255"/>
          <ac:spMkLst>
            <pc:docMk/>
            <pc:sldMk cId="2958316936" sldId="415"/>
            <ac:spMk id="6" creationId="{D12628B8-B3D7-FE57-94C5-6953CAE196FB}"/>
          </ac:spMkLst>
        </pc:spChg>
      </pc:sldChg>
      <pc:sldChg chg="modSp mod">
        <pc:chgData name="Houcine  HAMANA" userId="9304277f-9594-439f-8eb5-f5aaa7e26c23" providerId="ADAL" clId="{A18C5F31-D356-4661-AA3F-97A63CE1A673}" dt="2025-10-20T12:58:20.242" v="24" actId="255"/>
        <pc:sldMkLst>
          <pc:docMk/>
          <pc:sldMk cId="605232281" sldId="416"/>
        </pc:sldMkLst>
        <pc:spChg chg="mod">
          <ac:chgData name="Houcine  HAMANA" userId="9304277f-9594-439f-8eb5-f5aaa7e26c23" providerId="ADAL" clId="{A18C5F31-D356-4661-AA3F-97A63CE1A673}" dt="2025-10-20T12:58:20.242" v="24" actId="255"/>
          <ac:spMkLst>
            <pc:docMk/>
            <pc:sldMk cId="605232281" sldId="416"/>
            <ac:spMk id="7" creationId="{6E2FF0A5-4EE9-4D12-57B8-B04F0BA4D750}"/>
          </ac:spMkLst>
        </pc:spChg>
      </pc:sldChg>
      <pc:sldChg chg="modSp mod">
        <pc:chgData name="Houcine  HAMANA" userId="9304277f-9594-439f-8eb5-f5aaa7e26c23" providerId="ADAL" clId="{A18C5F31-D356-4661-AA3F-97A63CE1A673}" dt="2025-10-20T12:58:47.485" v="29" actId="14100"/>
        <pc:sldMkLst>
          <pc:docMk/>
          <pc:sldMk cId="3919408470" sldId="418"/>
        </pc:sldMkLst>
        <pc:spChg chg="mod">
          <ac:chgData name="Houcine  HAMANA" userId="9304277f-9594-439f-8eb5-f5aaa7e26c23" providerId="ADAL" clId="{A18C5F31-D356-4661-AA3F-97A63CE1A673}" dt="2025-10-20T12:58:47.485" v="29" actId="14100"/>
          <ac:spMkLst>
            <pc:docMk/>
            <pc:sldMk cId="3919408470" sldId="418"/>
            <ac:spMk id="4" creationId="{B5B8BEA1-1B5C-5B85-A597-495E9E630940}"/>
          </ac:spMkLst>
        </pc:spChg>
      </pc:sldChg>
      <pc:sldChg chg="modSp mod">
        <pc:chgData name="Houcine  HAMANA" userId="9304277f-9594-439f-8eb5-f5aaa7e26c23" providerId="ADAL" clId="{A18C5F31-D356-4661-AA3F-97A63CE1A673}" dt="2025-10-20T12:59:04.027" v="30" actId="1076"/>
        <pc:sldMkLst>
          <pc:docMk/>
          <pc:sldMk cId="1603948494" sldId="420"/>
        </pc:sldMkLst>
        <pc:spChg chg="mod">
          <ac:chgData name="Houcine  HAMANA" userId="9304277f-9594-439f-8eb5-f5aaa7e26c23" providerId="ADAL" clId="{A18C5F31-D356-4661-AA3F-97A63CE1A673}" dt="2025-10-20T12:59:04.027" v="30" actId="1076"/>
          <ac:spMkLst>
            <pc:docMk/>
            <pc:sldMk cId="1603948494" sldId="420"/>
            <ac:spMk id="3" creationId="{885C8F95-FE86-95E2-D6E8-0C237879E39C}"/>
          </ac:spMkLst>
        </pc:spChg>
      </pc:sldChg>
      <pc:sldChg chg="modSp mod">
        <pc:chgData name="Houcine  HAMANA" userId="9304277f-9594-439f-8eb5-f5aaa7e26c23" providerId="ADAL" clId="{A18C5F31-D356-4661-AA3F-97A63CE1A673}" dt="2025-10-20T12:59:15.252" v="34" actId="1076"/>
        <pc:sldMkLst>
          <pc:docMk/>
          <pc:sldMk cId="3088877981" sldId="421"/>
        </pc:sldMkLst>
        <pc:spChg chg="mod">
          <ac:chgData name="Houcine  HAMANA" userId="9304277f-9594-439f-8eb5-f5aaa7e26c23" providerId="ADAL" clId="{A18C5F31-D356-4661-AA3F-97A63CE1A673}" dt="2025-10-20T12:59:12.965" v="33" actId="1076"/>
          <ac:spMkLst>
            <pc:docMk/>
            <pc:sldMk cId="3088877981" sldId="421"/>
            <ac:spMk id="2" creationId="{4E2A0555-7643-A0D4-BECA-47A0616CC4C6}"/>
          </ac:spMkLst>
        </pc:spChg>
        <pc:graphicFrameChg chg="mod">
          <ac:chgData name="Houcine  HAMANA" userId="9304277f-9594-439f-8eb5-f5aaa7e26c23" providerId="ADAL" clId="{A18C5F31-D356-4661-AA3F-97A63CE1A673}" dt="2025-10-20T12:59:15.252" v="34" actId="1076"/>
          <ac:graphicFrameMkLst>
            <pc:docMk/>
            <pc:sldMk cId="3088877981" sldId="421"/>
            <ac:graphicFrameMk id="5" creationId="{A9B9C671-00D8-5D17-AE98-2F40DA94D478}"/>
          </ac:graphicFrameMkLst>
        </pc:graphicFrameChg>
      </pc:sldChg>
      <pc:sldChg chg="modSp mod">
        <pc:chgData name="Houcine  HAMANA" userId="9304277f-9594-439f-8eb5-f5aaa7e26c23" providerId="ADAL" clId="{A18C5F31-D356-4661-AA3F-97A63CE1A673}" dt="2025-10-20T12:56:28.815" v="6" actId="1076"/>
        <pc:sldMkLst>
          <pc:docMk/>
          <pc:sldMk cId="3049723982" sldId="422"/>
        </pc:sldMkLst>
        <pc:spChg chg="mod">
          <ac:chgData name="Houcine  HAMANA" userId="9304277f-9594-439f-8eb5-f5aaa7e26c23" providerId="ADAL" clId="{A18C5F31-D356-4661-AA3F-97A63CE1A673}" dt="2025-10-20T12:56:28.815" v="6" actId="1076"/>
          <ac:spMkLst>
            <pc:docMk/>
            <pc:sldMk cId="3049723982" sldId="422"/>
            <ac:spMk id="6" creationId="{C7C45CBF-A5CD-B308-049B-DC845F777939}"/>
          </ac:spMkLst>
        </pc:spChg>
      </pc:sldChg>
    </pc:docChg>
  </pc:docChgLst>
  <pc:docChgLst>
    <pc:chgData name="Rabiaa Zitouni" userId="eee48607-1bd9-41d8-92be-90d1972fda64" providerId="ADAL" clId="{E3D4C369-3698-4237-B715-524088B6E89A}"/>
    <pc:docChg chg="undo custSel addSld delSld modSld sldOrd">
      <pc:chgData name="Rabiaa Zitouni" userId="eee48607-1bd9-41d8-92be-90d1972fda64" providerId="ADAL" clId="{E3D4C369-3698-4237-B715-524088B6E89A}" dt="2025-09-11T08:03:55.501" v="599"/>
      <pc:docMkLst>
        <pc:docMk/>
      </pc:docMkLst>
      <pc:sldChg chg="modSp mod">
        <pc:chgData name="Rabiaa Zitouni" userId="eee48607-1bd9-41d8-92be-90d1972fda64" providerId="ADAL" clId="{E3D4C369-3698-4237-B715-524088B6E89A}" dt="2025-09-07T17:32:56.825" v="28" actId="27636"/>
        <pc:sldMkLst>
          <pc:docMk/>
          <pc:sldMk cId="1124459005" sldId="260"/>
        </pc:sldMkLst>
      </pc:sldChg>
      <pc:sldChg chg="modSp mod">
        <pc:chgData name="Rabiaa Zitouni" userId="eee48607-1bd9-41d8-92be-90d1972fda64" providerId="ADAL" clId="{E3D4C369-3698-4237-B715-524088B6E89A}" dt="2025-09-11T07:59:27.752" v="548" actId="20577"/>
        <pc:sldMkLst>
          <pc:docMk/>
          <pc:sldMk cId="3294199062" sldId="269"/>
        </pc:sldMkLst>
      </pc:sldChg>
      <pc:sldChg chg="add del">
        <pc:chgData name="Rabiaa Zitouni" userId="eee48607-1bd9-41d8-92be-90d1972fda64" providerId="ADAL" clId="{E3D4C369-3698-4237-B715-524088B6E89A}" dt="2025-09-07T17:32:20.288" v="22" actId="47"/>
        <pc:sldMkLst>
          <pc:docMk/>
          <pc:sldMk cId="870627905" sldId="280"/>
        </pc:sldMkLst>
      </pc:sldChg>
      <pc:sldChg chg="addSp delSp modSp mod">
        <pc:chgData name="Rabiaa Zitouni" userId="eee48607-1bd9-41d8-92be-90d1972fda64" providerId="ADAL" clId="{E3D4C369-3698-4237-B715-524088B6E89A}" dt="2025-09-07T17:37:03.925" v="54" actId="14100"/>
        <pc:sldMkLst>
          <pc:docMk/>
          <pc:sldMk cId="2776546688" sldId="355"/>
        </pc:sldMkLst>
      </pc:sldChg>
      <pc:sldChg chg="del">
        <pc:chgData name="Rabiaa Zitouni" userId="eee48607-1bd9-41d8-92be-90d1972fda64" providerId="ADAL" clId="{E3D4C369-3698-4237-B715-524088B6E89A}" dt="2025-09-07T17:32:31.756" v="24" actId="47"/>
        <pc:sldMkLst>
          <pc:docMk/>
          <pc:sldMk cId="72983920" sldId="376"/>
        </pc:sldMkLst>
      </pc:sldChg>
      <pc:sldChg chg="del">
        <pc:chgData name="Rabiaa Zitouni" userId="eee48607-1bd9-41d8-92be-90d1972fda64" providerId="ADAL" clId="{E3D4C369-3698-4237-B715-524088B6E89A}" dt="2025-09-07T17:32:16.364" v="20" actId="47"/>
        <pc:sldMkLst>
          <pc:docMk/>
          <pc:sldMk cId="2206336373" sldId="388"/>
        </pc:sldMkLst>
      </pc:sldChg>
      <pc:sldChg chg="del">
        <pc:chgData name="Rabiaa Zitouni" userId="eee48607-1bd9-41d8-92be-90d1972fda64" providerId="ADAL" clId="{E3D4C369-3698-4237-B715-524088B6E89A}" dt="2025-09-07T17:32:13.412" v="8" actId="47"/>
        <pc:sldMkLst>
          <pc:docMk/>
          <pc:sldMk cId="4189484840" sldId="389"/>
        </pc:sldMkLst>
      </pc:sldChg>
      <pc:sldChg chg="modSp mod">
        <pc:chgData name="Rabiaa Zitouni" userId="eee48607-1bd9-41d8-92be-90d1972fda64" providerId="ADAL" clId="{E3D4C369-3698-4237-B715-524088B6E89A}" dt="2025-09-07T17:39:11.128" v="73"/>
        <pc:sldMkLst>
          <pc:docMk/>
          <pc:sldMk cId="1637685907" sldId="394"/>
        </pc:sldMkLst>
      </pc:sldChg>
      <pc:sldChg chg="del">
        <pc:chgData name="Rabiaa Zitouni" userId="eee48607-1bd9-41d8-92be-90d1972fda64" providerId="ADAL" clId="{E3D4C369-3698-4237-B715-524088B6E89A}" dt="2025-09-07T17:32:14.483" v="13" actId="47"/>
        <pc:sldMkLst>
          <pc:docMk/>
          <pc:sldMk cId="3674681819" sldId="395"/>
        </pc:sldMkLst>
      </pc:sldChg>
      <pc:sldChg chg="del">
        <pc:chgData name="Rabiaa Zitouni" userId="eee48607-1bd9-41d8-92be-90d1972fda64" providerId="ADAL" clId="{E3D4C369-3698-4237-B715-524088B6E89A}" dt="2025-09-07T17:32:08.491" v="6" actId="47"/>
        <pc:sldMkLst>
          <pc:docMk/>
          <pc:sldMk cId="2784558191" sldId="396"/>
        </pc:sldMkLst>
      </pc:sldChg>
      <pc:sldChg chg="del">
        <pc:chgData name="Rabiaa Zitouni" userId="eee48607-1bd9-41d8-92be-90d1972fda64" providerId="ADAL" clId="{E3D4C369-3698-4237-B715-524088B6E89A}" dt="2025-09-07T17:32:35.621" v="25" actId="47"/>
        <pc:sldMkLst>
          <pc:docMk/>
          <pc:sldMk cId="3853578856" sldId="397"/>
        </pc:sldMkLst>
      </pc:sldChg>
      <pc:sldChg chg="del">
        <pc:chgData name="Rabiaa Zitouni" userId="eee48607-1bd9-41d8-92be-90d1972fda64" providerId="ADAL" clId="{E3D4C369-3698-4237-B715-524088B6E89A}" dt="2025-09-07T17:32:31.756" v="24" actId="47"/>
        <pc:sldMkLst>
          <pc:docMk/>
          <pc:sldMk cId="2421996172" sldId="398"/>
        </pc:sldMkLst>
      </pc:sldChg>
      <pc:sldChg chg="del">
        <pc:chgData name="Rabiaa Zitouni" userId="eee48607-1bd9-41d8-92be-90d1972fda64" providerId="ADAL" clId="{E3D4C369-3698-4237-B715-524088B6E89A}" dt="2025-09-07T17:32:23.697" v="23" actId="47"/>
        <pc:sldMkLst>
          <pc:docMk/>
          <pc:sldMk cId="3766110711" sldId="399"/>
        </pc:sldMkLst>
      </pc:sldChg>
      <pc:sldChg chg="del">
        <pc:chgData name="Rabiaa Zitouni" userId="eee48607-1bd9-41d8-92be-90d1972fda64" providerId="ADAL" clId="{E3D4C369-3698-4237-B715-524088B6E89A}" dt="2025-09-07T17:32:23.697" v="23" actId="47"/>
        <pc:sldMkLst>
          <pc:docMk/>
          <pc:sldMk cId="3952968374" sldId="401"/>
        </pc:sldMkLst>
      </pc:sldChg>
      <pc:sldChg chg="del">
        <pc:chgData name="Rabiaa Zitouni" userId="eee48607-1bd9-41d8-92be-90d1972fda64" providerId="ADAL" clId="{E3D4C369-3698-4237-B715-524088B6E89A}" dt="2025-09-11T07:42:19.030" v="354" actId="47"/>
        <pc:sldMkLst>
          <pc:docMk/>
          <pc:sldMk cId="2923529595" sldId="402"/>
        </pc:sldMkLst>
      </pc:sldChg>
      <pc:sldChg chg="modSp add mod">
        <pc:chgData name="Rabiaa Zitouni" userId="eee48607-1bd9-41d8-92be-90d1972fda64" providerId="ADAL" clId="{E3D4C369-3698-4237-B715-524088B6E89A}" dt="2025-09-07T17:38:41.242" v="66" actId="20577"/>
        <pc:sldMkLst>
          <pc:docMk/>
          <pc:sldMk cId="1159718981" sldId="403"/>
        </pc:sldMkLst>
      </pc:sldChg>
      <pc:sldChg chg="del">
        <pc:chgData name="Rabiaa Zitouni" userId="eee48607-1bd9-41d8-92be-90d1972fda64" providerId="ADAL" clId="{E3D4C369-3698-4237-B715-524088B6E89A}" dt="2025-09-07T17:32:13.215" v="7" actId="47"/>
        <pc:sldMkLst>
          <pc:docMk/>
          <pc:sldMk cId="2061984346" sldId="403"/>
        </pc:sldMkLst>
      </pc:sldChg>
      <pc:sldChg chg="modSp add mod">
        <pc:chgData name="Rabiaa Zitouni" userId="eee48607-1bd9-41d8-92be-90d1972fda64" providerId="ADAL" clId="{E3D4C369-3698-4237-B715-524088B6E89A}" dt="2025-09-07T17:38:56.968" v="70"/>
        <pc:sldMkLst>
          <pc:docMk/>
          <pc:sldMk cId="2768816396" sldId="404"/>
        </pc:sldMkLst>
      </pc:sldChg>
      <pc:sldChg chg="del">
        <pc:chgData name="Rabiaa Zitouni" userId="eee48607-1bd9-41d8-92be-90d1972fda64" providerId="ADAL" clId="{E3D4C369-3698-4237-B715-524088B6E89A}" dt="2025-09-07T17:32:13.581" v="9" actId="47"/>
        <pc:sldMkLst>
          <pc:docMk/>
          <pc:sldMk cId="3481086569" sldId="404"/>
        </pc:sldMkLst>
      </pc:sldChg>
      <pc:sldChg chg="del">
        <pc:chgData name="Rabiaa Zitouni" userId="eee48607-1bd9-41d8-92be-90d1972fda64" providerId="ADAL" clId="{E3D4C369-3698-4237-B715-524088B6E89A}" dt="2025-09-07T17:32:14.133" v="11" actId="47"/>
        <pc:sldMkLst>
          <pc:docMk/>
          <pc:sldMk cId="628056048" sldId="405"/>
        </pc:sldMkLst>
      </pc:sldChg>
      <pc:sldChg chg="delSp modSp add mod">
        <pc:chgData name="Rabiaa Zitouni" userId="eee48607-1bd9-41d8-92be-90d1972fda64" providerId="ADAL" clId="{E3D4C369-3698-4237-B715-524088B6E89A}" dt="2025-09-07T18:09:30.073" v="149" actId="113"/>
        <pc:sldMkLst>
          <pc:docMk/>
          <pc:sldMk cId="2790470387" sldId="405"/>
        </pc:sldMkLst>
      </pc:sldChg>
      <pc:sldChg chg="del">
        <pc:chgData name="Rabiaa Zitouni" userId="eee48607-1bd9-41d8-92be-90d1972fda64" providerId="ADAL" clId="{E3D4C369-3698-4237-B715-524088B6E89A}" dt="2025-09-07T17:32:14.682" v="14" actId="47"/>
        <pc:sldMkLst>
          <pc:docMk/>
          <pc:sldMk cId="1228747498" sldId="406"/>
        </pc:sldMkLst>
      </pc:sldChg>
      <pc:sldChg chg="add del">
        <pc:chgData name="Rabiaa Zitouni" userId="eee48607-1bd9-41d8-92be-90d1972fda64" providerId="ADAL" clId="{E3D4C369-3698-4237-B715-524088B6E89A}" dt="2025-09-07T17:44:18.858" v="78"/>
        <pc:sldMkLst>
          <pc:docMk/>
          <pc:sldMk cId="2146937621" sldId="406"/>
        </pc:sldMkLst>
      </pc:sldChg>
      <pc:sldChg chg="addSp modSp add mod">
        <pc:chgData name="Rabiaa Zitouni" userId="eee48607-1bd9-41d8-92be-90d1972fda64" providerId="ADAL" clId="{E3D4C369-3698-4237-B715-524088B6E89A}" dt="2025-09-07T17:51:47.502" v="146" actId="207"/>
        <pc:sldMkLst>
          <pc:docMk/>
          <pc:sldMk cId="2496277296" sldId="406"/>
        </pc:sldMkLst>
      </pc:sldChg>
      <pc:sldChg chg="delSp modSp add mod">
        <pc:chgData name="Rabiaa Zitouni" userId="eee48607-1bd9-41d8-92be-90d1972fda64" providerId="ADAL" clId="{E3D4C369-3698-4237-B715-524088B6E89A}" dt="2025-09-07T17:51:28.954" v="144" actId="1076"/>
        <pc:sldMkLst>
          <pc:docMk/>
          <pc:sldMk cId="525123003" sldId="407"/>
        </pc:sldMkLst>
      </pc:sldChg>
      <pc:sldChg chg="del">
        <pc:chgData name="Rabiaa Zitouni" userId="eee48607-1bd9-41d8-92be-90d1972fda64" providerId="ADAL" clId="{E3D4C369-3698-4237-B715-524088B6E89A}" dt="2025-09-07T17:32:14.860" v="15" actId="47"/>
        <pc:sldMkLst>
          <pc:docMk/>
          <pc:sldMk cId="1581363191" sldId="407"/>
        </pc:sldMkLst>
      </pc:sldChg>
      <pc:sldChg chg="addSp modSp add mod">
        <pc:chgData name="Rabiaa Zitouni" userId="eee48607-1bd9-41d8-92be-90d1972fda64" providerId="ADAL" clId="{E3D4C369-3698-4237-B715-524088B6E89A}" dt="2025-09-07T18:12:32.837" v="177" actId="1076"/>
        <pc:sldMkLst>
          <pc:docMk/>
          <pc:sldMk cId="2634815311" sldId="408"/>
        </pc:sldMkLst>
      </pc:sldChg>
      <pc:sldChg chg="del">
        <pc:chgData name="Rabiaa Zitouni" userId="eee48607-1bd9-41d8-92be-90d1972fda64" providerId="ADAL" clId="{E3D4C369-3698-4237-B715-524088B6E89A}" dt="2025-09-07T17:32:16.015" v="19" actId="47"/>
        <pc:sldMkLst>
          <pc:docMk/>
          <pc:sldMk cId="4010133108" sldId="408"/>
        </pc:sldMkLst>
      </pc:sldChg>
      <pc:sldChg chg="del">
        <pc:chgData name="Rabiaa Zitouni" userId="eee48607-1bd9-41d8-92be-90d1972fda64" providerId="ADAL" clId="{E3D4C369-3698-4237-B715-524088B6E89A}" dt="2025-09-07T17:32:07.515" v="3" actId="47"/>
        <pc:sldMkLst>
          <pc:docMk/>
          <pc:sldMk cId="2539909952" sldId="409"/>
        </pc:sldMkLst>
      </pc:sldChg>
      <pc:sldChg chg="modSp add mod">
        <pc:chgData name="Rabiaa Zitouni" userId="eee48607-1bd9-41d8-92be-90d1972fda64" providerId="ADAL" clId="{E3D4C369-3698-4237-B715-524088B6E89A}" dt="2025-09-07T18:13:34.762" v="190" actId="1076"/>
        <pc:sldMkLst>
          <pc:docMk/>
          <pc:sldMk cId="2737501210" sldId="409"/>
        </pc:sldMkLst>
      </pc:sldChg>
      <pc:sldChg chg="del">
        <pc:chgData name="Rabiaa Zitouni" userId="eee48607-1bd9-41d8-92be-90d1972fda64" providerId="ADAL" clId="{E3D4C369-3698-4237-B715-524088B6E89A}" dt="2025-09-07T17:32:08.127" v="4" actId="47"/>
        <pc:sldMkLst>
          <pc:docMk/>
          <pc:sldMk cId="678484505" sldId="410"/>
        </pc:sldMkLst>
      </pc:sldChg>
      <pc:sldChg chg="addSp modSp add mod">
        <pc:chgData name="Rabiaa Zitouni" userId="eee48607-1bd9-41d8-92be-90d1972fda64" providerId="ADAL" clId="{E3D4C369-3698-4237-B715-524088B6E89A}" dt="2025-09-07T18:16:17.244" v="227" actId="1076"/>
        <pc:sldMkLst>
          <pc:docMk/>
          <pc:sldMk cId="2650267112" sldId="410"/>
        </pc:sldMkLst>
      </pc:sldChg>
      <pc:sldChg chg="modSp add mod ord">
        <pc:chgData name="Rabiaa Zitouni" userId="eee48607-1bd9-41d8-92be-90d1972fda64" providerId="ADAL" clId="{E3D4C369-3698-4237-B715-524088B6E89A}" dt="2025-09-11T08:03:45.677" v="597" actId="207"/>
        <pc:sldMkLst>
          <pc:docMk/>
          <pc:sldMk cId="1759235295" sldId="411"/>
        </pc:sldMkLst>
      </pc:sldChg>
      <pc:sldChg chg="del">
        <pc:chgData name="Rabiaa Zitouni" userId="eee48607-1bd9-41d8-92be-90d1972fda64" providerId="ADAL" clId="{E3D4C369-3698-4237-B715-524088B6E89A}" dt="2025-09-07T17:32:23.697" v="23" actId="47"/>
        <pc:sldMkLst>
          <pc:docMk/>
          <pc:sldMk cId="2405513194" sldId="411"/>
        </pc:sldMkLst>
      </pc:sldChg>
      <pc:sldChg chg="add del">
        <pc:chgData name="Rabiaa Zitouni" userId="eee48607-1bd9-41d8-92be-90d1972fda64" providerId="ADAL" clId="{E3D4C369-3698-4237-B715-524088B6E89A}" dt="2025-09-07T18:18:03.658" v="228" actId="2696"/>
        <pc:sldMkLst>
          <pc:docMk/>
          <pc:sldMk cId="4270656791" sldId="411"/>
        </pc:sldMkLst>
      </pc:sldChg>
      <pc:sldChg chg="modSp add mod">
        <pc:chgData name="Rabiaa Zitouni" userId="eee48607-1bd9-41d8-92be-90d1972fda64" providerId="ADAL" clId="{E3D4C369-3698-4237-B715-524088B6E89A}" dt="2025-09-11T07:41:59.091" v="352" actId="179"/>
        <pc:sldMkLst>
          <pc:docMk/>
          <pc:sldMk cId="2940996647" sldId="412"/>
        </pc:sldMkLst>
      </pc:sldChg>
      <pc:sldChg chg="del">
        <pc:chgData name="Rabiaa Zitouni" userId="eee48607-1bd9-41d8-92be-90d1972fda64" providerId="ADAL" clId="{E3D4C369-3698-4237-B715-524088B6E89A}" dt="2025-09-07T17:32:06.935" v="0" actId="47"/>
        <pc:sldMkLst>
          <pc:docMk/>
          <pc:sldMk cId="2489904308" sldId="413"/>
        </pc:sldMkLst>
      </pc:sldChg>
      <pc:sldChg chg="add del">
        <pc:chgData name="Rabiaa Zitouni" userId="eee48607-1bd9-41d8-92be-90d1972fda64" providerId="ADAL" clId="{E3D4C369-3698-4237-B715-524088B6E89A}" dt="2025-09-11T07:42:09.696" v="353" actId="47"/>
        <pc:sldMkLst>
          <pc:docMk/>
          <pc:sldMk cId="2991981962" sldId="413"/>
        </pc:sldMkLst>
      </pc:sldChg>
      <pc:sldChg chg="del">
        <pc:chgData name="Rabiaa Zitouni" userId="eee48607-1bd9-41d8-92be-90d1972fda64" providerId="ADAL" clId="{E3D4C369-3698-4237-B715-524088B6E89A}" dt="2025-09-07T17:32:15.228" v="16" actId="47"/>
        <pc:sldMkLst>
          <pc:docMk/>
          <pc:sldMk cId="2000029094" sldId="414"/>
        </pc:sldMkLst>
      </pc:sldChg>
      <pc:sldChg chg="modSp add mod">
        <pc:chgData name="Rabiaa Zitouni" userId="eee48607-1bd9-41d8-92be-90d1972fda64" providerId="ADAL" clId="{E3D4C369-3698-4237-B715-524088B6E89A}" dt="2025-09-07T18:33:11.437" v="312" actId="113"/>
        <pc:sldMkLst>
          <pc:docMk/>
          <pc:sldMk cId="3445283387" sldId="414"/>
        </pc:sldMkLst>
      </pc:sldChg>
      <pc:sldChg chg="del">
        <pc:chgData name="Rabiaa Zitouni" userId="eee48607-1bd9-41d8-92be-90d1972fda64" providerId="ADAL" clId="{E3D4C369-3698-4237-B715-524088B6E89A}" dt="2025-09-07T17:32:07.113" v="1" actId="47"/>
        <pc:sldMkLst>
          <pc:docMk/>
          <pc:sldMk cId="631387078" sldId="415"/>
        </pc:sldMkLst>
      </pc:sldChg>
      <pc:sldChg chg="modSp add del mod">
        <pc:chgData name="Rabiaa Zitouni" userId="eee48607-1bd9-41d8-92be-90d1972fda64" providerId="ADAL" clId="{E3D4C369-3698-4237-B715-524088B6E89A}" dt="2025-09-11T07:39:30.323" v="329" actId="47"/>
        <pc:sldMkLst>
          <pc:docMk/>
          <pc:sldMk cId="1615215519" sldId="415"/>
        </pc:sldMkLst>
      </pc:sldChg>
      <pc:sldChg chg="addSp modSp add mod">
        <pc:chgData name="Rabiaa Zitouni" userId="eee48607-1bd9-41d8-92be-90d1972fda64" providerId="ADAL" clId="{E3D4C369-3698-4237-B715-524088B6E89A}" dt="2025-09-11T07:46:27.551" v="401" actId="1076"/>
        <pc:sldMkLst>
          <pc:docMk/>
          <pc:sldMk cId="2958316936" sldId="415"/>
        </pc:sldMkLst>
      </pc:sldChg>
      <pc:sldChg chg="addSp delSp modSp add mod">
        <pc:chgData name="Rabiaa Zitouni" userId="eee48607-1bd9-41d8-92be-90d1972fda64" providerId="ADAL" clId="{E3D4C369-3698-4237-B715-524088B6E89A}" dt="2025-09-11T07:48:46.205" v="436" actId="12"/>
        <pc:sldMkLst>
          <pc:docMk/>
          <pc:sldMk cId="605232281" sldId="416"/>
        </pc:sldMkLst>
      </pc:sldChg>
      <pc:sldChg chg="del">
        <pc:chgData name="Rabiaa Zitouni" userId="eee48607-1bd9-41d8-92be-90d1972fda64" providerId="ADAL" clId="{E3D4C369-3698-4237-B715-524088B6E89A}" dt="2025-09-07T17:32:15.608" v="17" actId="47"/>
        <pc:sldMkLst>
          <pc:docMk/>
          <pc:sldMk cId="935083695" sldId="416"/>
        </pc:sldMkLst>
      </pc:sldChg>
      <pc:sldChg chg="add del">
        <pc:chgData name="Rabiaa Zitouni" userId="eee48607-1bd9-41d8-92be-90d1972fda64" providerId="ADAL" clId="{E3D4C369-3698-4237-B715-524088B6E89A}" dt="2025-09-11T07:39:30.323" v="329" actId="47"/>
        <pc:sldMkLst>
          <pc:docMk/>
          <pc:sldMk cId="1674027994" sldId="416"/>
        </pc:sldMkLst>
      </pc:sldChg>
      <pc:sldChg chg="del">
        <pc:chgData name="Rabiaa Zitouni" userId="eee48607-1bd9-41d8-92be-90d1972fda64" providerId="ADAL" clId="{E3D4C369-3698-4237-B715-524088B6E89A}" dt="2025-09-07T17:32:15.813" v="18" actId="47"/>
        <pc:sldMkLst>
          <pc:docMk/>
          <pc:sldMk cId="148076454" sldId="417"/>
        </pc:sldMkLst>
      </pc:sldChg>
      <pc:sldChg chg="add del">
        <pc:chgData name="Rabiaa Zitouni" userId="eee48607-1bd9-41d8-92be-90d1972fda64" providerId="ADAL" clId="{E3D4C369-3698-4237-B715-524088B6E89A}" dt="2025-09-11T07:39:30.323" v="329" actId="47"/>
        <pc:sldMkLst>
          <pc:docMk/>
          <pc:sldMk cId="700817533" sldId="417"/>
        </pc:sldMkLst>
      </pc:sldChg>
      <pc:sldChg chg="addSp delSp modSp add mod">
        <pc:chgData name="Rabiaa Zitouni" userId="eee48607-1bd9-41d8-92be-90d1972fda64" providerId="ADAL" clId="{E3D4C369-3698-4237-B715-524088B6E89A}" dt="2025-09-11T07:53:22.532" v="498" actId="12"/>
        <pc:sldMkLst>
          <pc:docMk/>
          <pc:sldMk cId="1291795966" sldId="417"/>
        </pc:sldMkLst>
      </pc:sldChg>
      <pc:sldChg chg="del">
        <pc:chgData name="Rabiaa Zitouni" userId="eee48607-1bd9-41d8-92be-90d1972fda64" providerId="ADAL" clId="{E3D4C369-3698-4237-B715-524088B6E89A}" dt="2025-09-07T17:32:07.329" v="2" actId="47"/>
        <pc:sldMkLst>
          <pc:docMk/>
          <pc:sldMk cId="28050151" sldId="418"/>
        </pc:sldMkLst>
      </pc:sldChg>
      <pc:sldChg chg="modSp add mod">
        <pc:chgData name="Rabiaa Zitouni" userId="eee48607-1bd9-41d8-92be-90d1972fda64" providerId="ADAL" clId="{E3D4C369-3698-4237-B715-524088B6E89A}" dt="2025-09-11T07:52:59.103" v="497" actId="1076"/>
        <pc:sldMkLst>
          <pc:docMk/>
          <pc:sldMk cId="3919408470" sldId="418"/>
        </pc:sldMkLst>
      </pc:sldChg>
      <pc:sldChg chg="modSp add mod">
        <pc:chgData name="Rabiaa Zitouni" userId="eee48607-1bd9-41d8-92be-90d1972fda64" providerId="ADAL" clId="{E3D4C369-3698-4237-B715-524088B6E89A}" dt="2025-09-11T07:55:30.419" v="515" actId="1076"/>
        <pc:sldMkLst>
          <pc:docMk/>
          <pc:sldMk cId="518671674" sldId="419"/>
        </pc:sldMkLst>
      </pc:sldChg>
      <pc:sldChg chg="del">
        <pc:chgData name="Rabiaa Zitouni" userId="eee48607-1bd9-41d8-92be-90d1972fda64" providerId="ADAL" clId="{E3D4C369-3698-4237-B715-524088B6E89A}" dt="2025-09-07T17:32:08.317" v="5" actId="47"/>
        <pc:sldMkLst>
          <pc:docMk/>
          <pc:sldMk cId="3293874496" sldId="419"/>
        </pc:sldMkLst>
      </pc:sldChg>
      <pc:sldChg chg="addSp modSp add mod">
        <pc:chgData name="Rabiaa Zitouni" userId="eee48607-1bd9-41d8-92be-90d1972fda64" providerId="ADAL" clId="{E3D4C369-3698-4237-B715-524088B6E89A}" dt="2025-09-11T07:56:53.442" v="533" actId="14100"/>
        <pc:sldMkLst>
          <pc:docMk/>
          <pc:sldMk cId="1603948494" sldId="420"/>
        </pc:sldMkLst>
      </pc:sldChg>
      <pc:sldChg chg="del">
        <pc:chgData name="Rabiaa Zitouni" userId="eee48607-1bd9-41d8-92be-90d1972fda64" providerId="ADAL" clId="{E3D4C369-3698-4237-B715-524088B6E89A}" dt="2025-09-07T17:32:14.299" v="12" actId="47"/>
        <pc:sldMkLst>
          <pc:docMk/>
          <pc:sldMk cId="4130554751" sldId="420"/>
        </pc:sldMkLst>
      </pc:sldChg>
      <pc:sldChg chg="del">
        <pc:chgData name="Rabiaa Zitouni" userId="eee48607-1bd9-41d8-92be-90d1972fda64" providerId="ADAL" clId="{E3D4C369-3698-4237-B715-524088B6E89A}" dt="2025-09-07T17:32:31.756" v="24" actId="47"/>
        <pc:sldMkLst>
          <pc:docMk/>
          <pc:sldMk cId="2625159972" sldId="421"/>
        </pc:sldMkLst>
      </pc:sldChg>
      <pc:sldChg chg="addSp delSp modSp add mod">
        <pc:chgData name="Rabiaa Zitouni" userId="eee48607-1bd9-41d8-92be-90d1972fda64" providerId="ADAL" clId="{E3D4C369-3698-4237-B715-524088B6E89A}" dt="2025-09-11T07:59:13.016" v="547" actId="1076"/>
        <pc:sldMkLst>
          <pc:docMk/>
          <pc:sldMk cId="3088877981" sldId="421"/>
        </pc:sldMkLst>
      </pc:sldChg>
      <pc:sldChg chg="add">
        <pc:chgData name="Rabiaa Zitouni" userId="eee48607-1bd9-41d8-92be-90d1972fda64" providerId="ADAL" clId="{E3D4C369-3698-4237-B715-524088B6E89A}" dt="2025-09-11T08:01:49.261" v="549" actId="2890"/>
        <pc:sldMkLst>
          <pc:docMk/>
          <pc:sldMk cId="3049723982" sldId="422"/>
        </pc:sldMkLst>
      </pc:sldChg>
      <pc:sldChg chg="del">
        <pc:chgData name="Rabiaa Zitouni" userId="eee48607-1bd9-41d8-92be-90d1972fda64" providerId="ADAL" clId="{E3D4C369-3698-4237-B715-524088B6E89A}" dt="2025-09-07T17:32:31.756" v="24" actId="47"/>
        <pc:sldMkLst>
          <pc:docMk/>
          <pc:sldMk cId="3270111030" sldId="422"/>
        </pc:sldMkLst>
      </pc:sldChg>
      <pc:sldChg chg="del">
        <pc:chgData name="Rabiaa Zitouni" userId="eee48607-1bd9-41d8-92be-90d1972fda64" providerId="ADAL" clId="{E3D4C369-3698-4237-B715-524088B6E89A}" dt="2025-09-07T17:32:39.282" v="26" actId="47"/>
        <pc:sldMkLst>
          <pc:docMk/>
          <pc:sldMk cId="862574982" sldId="423"/>
        </pc:sldMkLst>
      </pc:sldChg>
      <pc:sldChg chg="addSp delSp modSp add mod ord">
        <pc:chgData name="Rabiaa Zitouni" userId="eee48607-1bd9-41d8-92be-90d1972fda64" providerId="ADAL" clId="{E3D4C369-3698-4237-B715-524088B6E89A}" dt="2025-09-11T08:03:55.501" v="599"/>
        <pc:sldMkLst>
          <pc:docMk/>
          <pc:sldMk cId="1997693204" sldId="423"/>
        </pc:sldMkLst>
      </pc:sldChg>
      <pc:sldChg chg="del">
        <pc:chgData name="Rabiaa Zitouni" userId="eee48607-1bd9-41d8-92be-90d1972fda64" providerId="ADAL" clId="{E3D4C369-3698-4237-B715-524088B6E89A}" dt="2025-09-07T17:32:31.756" v="24" actId="47"/>
        <pc:sldMkLst>
          <pc:docMk/>
          <pc:sldMk cId="505186597" sldId="424"/>
        </pc:sldMkLst>
      </pc:sldChg>
      <pc:sldChg chg="del">
        <pc:chgData name="Rabiaa Zitouni" userId="eee48607-1bd9-41d8-92be-90d1972fda64" providerId="ADAL" clId="{E3D4C369-3698-4237-B715-524088B6E89A}" dt="2025-09-07T17:32:13.772" v="10" actId="47"/>
        <pc:sldMkLst>
          <pc:docMk/>
          <pc:sldMk cId="3272675429" sldId="426"/>
        </pc:sldMkLst>
      </pc:sldChg>
      <pc:sldChg chg="del">
        <pc:chgData name="Rabiaa Zitouni" userId="eee48607-1bd9-41d8-92be-90d1972fda64" providerId="ADAL" clId="{E3D4C369-3698-4237-B715-524088B6E89A}" dt="2025-09-07T17:32:35.621" v="25" actId="47"/>
        <pc:sldMkLst>
          <pc:docMk/>
          <pc:sldMk cId="2495581440" sldId="427"/>
        </pc:sldMkLst>
      </pc:sldChg>
      <pc:sldChg chg="del">
        <pc:chgData name="Rabiaa Zitouni" userId="eee48607-1bd9-41d8-92be-90d1972fda64" providerId="ADAL" clId="{E3D4C369-3698-4237-B715-524088B6E89A}" dt="2025-09-07T17:32:35.621" v="25" actId="47"/>
        <pc:sldMkLst>
          <pc:docMk/>
          <pc:sldMk cId="2052453909" sldId="4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6C5A-B07F-497F-BA06-1FE8B79985D8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1EFD1-E4C2-4260-9525-DF4514A9490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17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rgbClr val="DEDEE6">
            <a:alpha val="3411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C07DB7-8A35-FCC0-11EB-8AD35454E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02451"/>
            <a:ext cx="9144000" cy="2387600"/>
          </a:xfrm>
          <a:ln>
            <a:noFill/>
          </a:ln>
        </p:spPr>
        <p:txBody>
          <a:bodyPr anchor="ctr"/>
          <a:lstStyle>
            <a:lvl1pPr algn="ctr">
              <a:defRPr sz="6000" b="1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Titre du cours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2C5BDB-E87E-599C-FEEF-8D51B82D62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50210"/>
            <a:ext cx="9144000" cy="593509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rgbClr val="4A4A62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Nom de la filière ou du programme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26BBE-417D-E7FB-C197-25F19536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2660"/>
            <a:ext cx="545757" cy="365125"/>
          </a:xfrm>
        </p:spPr>
        <p:txBody>
          <a:bodyPr/>
          <a:lstStyle/>
          <a:p>
            <a:fld id="{8CD3FB23-3DE5-4888-A54C-CBA35DA6E3FD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7722BE2-3949-5CFB-57B6-785D2A8C22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pic>
        <p:nvPicPr>
          <p:cNvPr id="23" name="Picture 2" descr="Home | Caplogy">
            <a:extLst>
              <a:ext uri="{FF2B5EF4-FFF2-40B4-BE49-F238E27FC236}">
                <a16:creationId xmlns:a16="http://schemas.microsoft.com/office/drawing/2014/main" id="{E0C58849-0644-8FFD-65B4-D6F0C4EDFA8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82"/>
          <a:stretch/>
        </p:blipFill>
        <p:spPr bwMode="auto">
          <a:xfrm>
            <a:off x="132315" y="6153876"/>
            <a:ext cx="525163" cy="76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F543A45B-EB8A-D307-0FF0-D3B8CA05FB6D}"/>
              </a:ext>
            </a:extLst>
          </p:cNvPr>
          <p:cNvGrpSpPr/>
          <p:nvPr userDrawn="1"/>
        </p:nvGrpSpPr>
        <p:grpSpPr>
          <a:xfrm>
            <a:off x="4116000" y="5577022"/>
            <a:ext cx="3960000" cy="304800"/>
            <a:chOff x="4240975" y="4901516"/>
            <a:chExt cx="3960000" cy="304800"/>
          </a:xfrm>
        </p:grpSpPr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0B8C3F59-F182-C83C-0A21-2A7A66BD3C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40975" y="4901516"/>
              <a:ext cx="3960000" cy="0"/>
            </a:xfrm>
            <a:prstGeom prst="line">
              <a:avLst/>
            </a:prstGeom>
            <a:ln w="1905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A1D64CFB-4F05-EDCF-D386-019D8CD42E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80975" y="5053916"/>
              <a:ext cx="2880000" cy="0"/>
            </a:xfrm>
            <a:prstGeom prst="line">
              <a:avLst/>
            </a:prstGeom>
            <a:ln w="1905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1508929-1503-544B-6B5A-1B11BD9B54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20975" y="5206316"/>
              <a:ext cx="1800000" cy="0"/>
            </a:xfrm>
            <a:prstGeom prst="line">
              <a:avLst/>
            </a:prstGeom>
            <a:ln w="1905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C3D3E438-193B-EB8D-70AD-3058E2FA4E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4773448"/>
            <a:ext cx="9144000" cy="441108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i="1">
                <a:solidFill>
                  <a:srgbClr val="4A4A62"/>
                </a:solidFill>
                <a:latin typeface="Georgia" panose="02040502050405020303" pitchFamily="18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Année (optionnel)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A2326-9237-19DB-B1FD-BF7F4BF22FF6}"/>
              </a:ext>
            </a:extLst>
          </p:cNvPr>
          <p:cNvSpPr/>
          <p:nvPr userDrawn="1"/>
        </p:nvSpPr>
        <p:spPr>
          <a:xfrm>
            <a:off x="1524000" y="1402451"/>
            <a:ext cx="9144000" cy="2387600"/>
          </a:xfrm>
          <a:prstGeom prst="rect">
            <a:avLst/>
          </a:prstGeom>
          <a:noFill/>
          <a:ln w="9525">
            <a:solidFill>
              <a:srgbClr val="A9A9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08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e la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544B982F-F764-74B2-32B1-FB2CBBD00D4C}"/>
              </a:ext>
            </a:extLst>
          </p:cNvPr>
          <p:cNvSpPr/>
          <p:nvPr userDrawn="1"/>
        </p:nvSpPr>
        <p:spPr>
          <a:xfrm>
            <a:off x="2539417" y="1496588"/>
            <a:ext cx="4359101" cy="4359101"/>
          </a:xfrm>
          <a:prstGeom prst="arc">
            <a:avLst>
              <a:gd name="adj1" fmla="val 17328513"/>
              <a:gd name="adj2" fmla="val 4317935"/>
            </a:avLst>
          </a:prstGeom>
          <a:ln w="38100">
            <a:solidFill>
              <a:srgbClr val="4A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BA0265F5-EAA7-BC41-09D2-62D519FD30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3219" y="1672720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Introduction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0735FF-B14F-4268-3DC9-9E45F8A907E5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4484DE-D9CB-C1DE-B1AD-478984B3B5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63821"/>
            <a:ext cx="3932237" cy="1207865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Plan du cours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51431-4F25-EF3C-4DFF-1F50CE6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5071-0BFD-4152-85CA-FEA422DAC900}" type="datetimeyyyy">
              <a:rPr lang="fr-FR" smtClean="0"/>
              <a:t>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B0ABA8-5DE6-4278-AC51-13A66F54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ABF0DF1-DA2B-1430-EB38-6C88508FE0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3F679C6-E59A-416B-7171-099C779C7ED0}"/>
              </a:ext>
            </a:extLst>
          </p:cNvPr>
          <p:cNvCxnSpPr>
            <a:cxnSpLocks/>
          </p:cNvCxnSpPr>
          <p:nvPr userDrawn="1"/>
        </p:nvCxnSpPr>
        <p:spPr>
          <a:xfrm>
            <a:off x="836612" y="2196401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9FB030-F3E0-AFF0-9664-8C70B9B6A0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8275" y="1721139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A8331E30-9104-6A75-7BAD-29301FC9D6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14118" y="2310815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E4A8D6C2-1DA4-3696-E315-D4CC933B18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5257" y="2359234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15EE53C3-C648-BC53-2D6C-8AFBD357B4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6486" y="3047881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6E3D68D5-DBB0-A99A-593E-E386484F1B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7482" y="3096300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5CE0A7F6-5D19-5858-A3BE-D9A5528BBD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82426" y="3694823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675ED3FF-9D35-EF19-250D-F4DA9E3A66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99564" y="3743242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5310F4F9-16FD-C66F-8C6B-9BEF5134DB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8341" y="4433415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816AE6FF-D79D-C5A7-0BE9-ED0A603B55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3397" y="4481834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5</a:t>
            </a:r>
          </a:p>
        </p:txBody>
      </p:sp>
      <p:sp>
        <p:nvSpPr>
          <p:cNvPr id="30" name="Espace réservé du texte 16">
            <a:extLst>
              <a:ext uri="{FF2B5EF4-FFF2-40B4-BE49-F238E27FC236}">
                <a16:creationId xmlns:a16="http://schemas.microsoft.com/office/drawing/2014/main" id="{9C75228B-04D0-E924-0326-88D4629F9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3219" y="5123589"/>
            <a:ext cx="3744000" cy="461963"/>
          </a:xfrm>
          <a:prstGeom prst="roundRect">
            <a:avLst/>
          </a:prstGeom>
          <a:solidFill>
            <a:srgbClr val="5B5B79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   </a:t>
            </a:r>
            <a:r>
              <a:rPr lang="fr-FR" dirty="0" err="1"/>
              <a:t>Element</a:t>
            </a:r>
            <a:endParaRPr lang="fr-FR" dirty="0"/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A43C1B98-A5C8-30E6-60E0-5B76DD8366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48275" y="5172008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rgbClr val="4A4A6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415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f du 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6DD8B8-42E0-EE50-52E5-ABF93DAB75D0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23793E-6996-9061-A611-3F3A8F5C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8C8C43-47DE-6455-9E6E-5C364A0D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7693E6C-B585-CC51-4FA5-7D9B9C2AD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63821"/>
            <a:ext cx="3932237" cy="1207865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Objectifs du cours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551730-B373-814C-2A90-06F87F056AA3}"/>
              </a:ext>
            </a:extLst>
          </p:cNvPr>
          <p:cNvCxnSpPr>
            <a:cxnSpLocks/>
          </p:cNvCxnSpPr>
          <p:nvPr userDrawn="1"/>
        </p:nvCxnSpPr>
        <p:spPr>
          <a:xfrm>
            <a:off x="836612" y="2196401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D71FACA-E88B-9533-D1DF-F1585077AD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613" y="2405063"/>
            <a:ext cx="8118475" cy="3698875"/>
          </a:xfrm>
        </p:spPr>
        <p:txBody>
          <a:bodyPr/>
          <a:lstStyle>
            <a:lvl1pPr marL="228600" indent="-228600">
              <a:buClr>
                <a:srgbClr val="25A7BD"/>
              </a:buClr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fr-FR" dirty="0"/>
              <a:t> Objectif 1</a:t>
            </a:r>
          </a:p>
          <a:p>
            <a:pPr lvl="0"/>
            <a:r>
              <a:rPr lang="fr-FR" dirty="0"/>
              <a:t> Objectif 2</a:t>
            </a:r>
          </a:p>
          <a:p>
            <a:pPr lvl="0"/>
            <a:r>
              <a:rPr lang="fr-FR" dirty="0"/>
              <a:t> Objectif 3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658BA10-B4B9-41FE-4E67-12838D4EE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28635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ment du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6DD8B8-42E0-EE50-52E5-ABF93DAB75D0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23793E-6996-9061-A611-3F3A8F5C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8C8C43-47DE-6455-9E6E-5C364A0D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7693E6C-B585-CC51-4FA5-7D9B9C2AD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30874"/>
            <a:ext cx="5966254" cy="861869"/>
          </a:xfrm>
        </p:spPr>
        <p:txBody>
          <a:bodyPr anchor="b"/>
          <a:lstStyle>
            <a:lvl1pPr>
              <a:defRPr sz="3200">
                <a:solidFill>
                  <a:srgbClr val="5B5B79"/>
                </a:solidFill>
                <a:latin typeface="Georgia" panose="02040502050405020303" pitchFamily="18" charset="0"/>
              </a:defRPr>
            </a:lvl1pPr>
          </a:lstStyle>
          <a:p>
            <a:r>
              <a:rPr lang="fr-FR" dirty="0"/>
              <a:t>Séquencement du chapitre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551730-B373-814C-2A90-06F87F056AA3}"/>
              </a:ext>
            </a:extLst>
          </p:cNvPr>
          <p:cNvCxnSpPr>
            <a:cxnSpLocks/>
          </p:cNvCxnSpPr>
          <p:nvPr userDrawn="1"/>
        </p:nvCxnSpPr>
        <p:spPr>
          <a:xfrm>
            <a:off x="836612" y="1817458"/>
            <a:ext cx="5382956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658BA10-B4B9-41FE-4E67-12838D4EE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43910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rgbClr val="DEDEE6">
            <a:alpha val="3372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3A061-7A75-6FE0-9120-DED756E4F0B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8934C3-4BA2-FFCC-0639-6A6D5EC30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550" y="1619128"/>
            <a:ext cx="10502900" cy="2808823"/>
          </a:xfrm>
          <a:prstGeom prst="homePlate">
            <a:avLst/>
          </a:prstGeom>
          <a:noFill/>
          <a:ln w="38100">
            <a:noFill/>
          </a:ln>
        </p:spPr>
        <p:txBody>
          <a:bodyPr anchor="ctr">
            <a:normAutofit/>
          </a:bodyPr>
          <a:lstStyle>
            <a:lvl1pPr algn="l">
              <a:defRPr sz="4800">
                <a:solidFill>
                  <a:srgbClr val="44445A"/>
                </a:solidFill>
              </a:defRPr>
            </a:lvl1pPr>
          </a:lstStyle>
          <a:p>
            <a:r>
              <a:rPr lang="fr-FR" dirty="0"/>
              <a:t>Nouvelle section (sous-titre)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3D4EC0-FAF0-DBA5-05F3-D57855A7AC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4498853"/>
            <a:ext cx="10521951" cy="1500187"/>
          </a:xfrm>
          <a:solidFill>
            <a:srgbClr val="F4F4F6"/>
          </a:solidFill>
          <a:ln>
            <a:noFill/>
          </a:ln>
        </p:spPr>
        <p:txBody>
          <a:bodyPr/>
          <a:lstStyle>
            <a:lvl1pPr marL="0" indent="0">
              <a:buNone/>
              <a:defRPr sz="24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Objectif de la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AE3AB2-72C9-5CE4-5CA6-DBA513F9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D04652-4F58-4C4F-2F7D-0D8A8647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07A013EC-F459-2AA1-DD33-4A9E68747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08C58FFA-7CA4-B54F-0EB0-EA2E08FBBC5B}"/>
              </a:ext>
            </a:extLst>
          </p:cNvPr>
          <p:cNvSpPr/>
          <p:nvPr userDrawn="1"/>
        </p:nvSpPr>
        <p:spPr>
          <a:xfrm>
            <a:off x="849000" y="1619128"/>
            <a:ext cx="10504800" cy="2808823"/>
          </a:xfrm>
          <a:prstGeom prst="homePlate">
            <a:avLst/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55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E2A3A3-5D81-A44C-8CF5-7FC802E968EF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551E04-F707-FA3D-C551-875AED5554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654"/>
            <a:ext cx="10515600" cy="103806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0A6EDD-6208-3193-52EA-BA15A9B48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2AD53C-090C-6CF4-23DE-7F47ECA8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97FB7C-46F8-20BE-AF64-0FAEB82A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91A65E0-77B9-A4D4-4E48-B27691D38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39666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citation">
    <p:bg>
      <p:bgPr>
        <a:solidFill>
          <a:srgbClr val="DEDEE6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F81CF-8BB9-C38D-C7CE-E73EBA5AF27C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51170"/>
            <a:ext cx="10515600" cy="2555660"/>
          </a:xfrm>
        </p:spPr>
        <p:txBody>
          <a:bodyPr/>
          <a:lstStyle>
            <a:lvl1pPr algn="ctr">
              <a:defRPr i="1">
                <a:solidFill>
                  <a:srgbClr val="4A4A62"/>
                </a:solidFill>
              </a:defRPr>
            </a:lvl1pPr>
          </a:lstStyle>
          <a:p>
            <a:r>
              <a:rPr lang="fr-FR" dirty="0"/>
              <a:t>« Ajouter une citation »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429348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s 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DDF4AB-0CEB-0B10-4262-C615D46B5F0F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654"/>
            <a:ext cx="10515600" cy="103806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2272026-C183-F130-A83C-DEC0A72B7A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567116"/>
            <a:ext cx="10515600" cy="508815"/>
          </a:xfrm>
        </p:spPr>
        <p:txBody>
          <a:bodyPr/>
          <a:lstStyle>
            <a:lvl1pPr marL="0" indent="0" algn="ctr">
              <a:buNone/>
              <a:defRPr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Titre du graphique / illustration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32C05F15-E655-E71A-FE62-A79662C8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1483" y="5920474"/>
            <a:ext cx="6549035" cy="365125"/>
          </a:xfrm>
        </p:spPr>
        <p:txBody>
          <a:bodyPr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Légende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9DBC81C-593B-6262-CC8F-B98BB39E8BC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44701" y="2094333"/>
            <a:ext cx="7502599" cy="37883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0298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- 2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2C47A-A6DB-833F-D562-AC20A30E0EB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97F83F5-D610-BDE4-8554-40DD5E2287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65191" y="2545364"/>
            <a:ext cx="3633229" cy="3352800"/>
          </a:xfrm>
          <a:prstGeom prst="roundRect">
            <a:avLst/>
          </a:prstGeom>
          <a:ln w="3175">
            <a:solidFill>
              <a:srgbClr val="A7A7BD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31951B69-5AFA-FE73-4E72-3CCE25405B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97872" y="2545364"/>
            <a:ext cx="3633229" cy="3352800"/>
          </a:xfrm>
          <a:prstGeom prst="roundRect">
            <a:avLst/>
          </a:prstGeom>
          <a:ln w="3175">
            <a:solidFill>
              <a:srgbClr val="A7A7BD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2E287E3-4685-7418-2838-A7DA200DE5EB}"/>
              </a:ext>
            </a:extLst>
          </p:cNvPr>
          <p:cNvGrpSpPr/>
          <p:nvPr userDrawn="1"/>
        </p:nvGrpSpPr>
        <p:grpSpPr>
          <a:xfrm>
            <a:off x="5362831" y="2384897"/>
            <a:ext cx="1466339" cy="1235804"/>
            <a:chOff x="5362831" y="2384897"/>
            <a:chExt cx="1466339" cy="1235804"/>
          </a:xfrm>
        </p:grpSpPr>
        <p:sp>
          <p:nvSpPr>
            <p:cNvPr id="13" name="Flèche : courbe vers la gauche 12">
              <a:extLst>
                <a:ext uri="{FF2B5EF4-FFF2-40B4-BE49-F238E27FC236}">
                  <a16:creationId xmlns:a16="http://schemas.microsoft.com/office/drawing/2014/main" id="{2BA23E16-400D-77C6-B1E1-CF333E96E327}"/>
                </a:ext>
              </a:extLst>
            </p:cNvPr>
            <p:cNvSpPr/>
            <p:nvPr userDrawn="1"/>
          </p:nvSpPr>
          <p:spPr>
            <a:xfrm rot="1568183">
              <a:off x="5362831" y="2384897"/>
              <a:ext cx="387179" cy="1235804"/>
            </a:xfrm>
            <a:prstGeom prst="curvedLeftArrow">
              <a:avLst>
                <a:gd name="adj1" fmla="val 25000"/>
                <a:gd name="adj2" fmla="val 62979"/>
                <a:gd name="adj3" fmla="val 35638"/>
              </a:avLst>
            </a:prstGeom>
            <a:solidFill>
              <a:srgbClr val="5B5B79"/>
            </a:solidFill>
            <a:ln>
              <a:solidFill>
                <a:srgbClr val="71D2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4" name="Flèche : courbe vers la gauche 13">
              <a:extLst>
                <a:ext uri="{FF2B5EF4-FFF2-40B4-BE49-F238E27FC236}">
                  <a16:creationId xmlns:a16="http://schemas.microsoft.com/office/drawing/2014/main" id="{6D20FF0B-320E-4158-BE78-D87D2E4DB965}"/>
                </a:ext>
              </a:extLst>
            </p:cNvPr>
            <p:cNvSpPr/>
            <p:nvPr userDrawn="1"/>
          </p:nvSpPr>
          <p:spPr>
            <a:xfrm rot="20031817" flipH="1">
              <a:off x="6441991" y="2384897"/>
              <a:ext cx="387179" cy="1235804"/>
            </a:xfrm>
            <a:prstGeom prst="curvedLeftArrow">
              <a:avLst>
                <a:gd name="adj1" fmla="val 25000"/>
                <a:gd name="adj2" fmla="val 62979"/>
                <a:gd name="adj3" fmla="val 35638"/>
              </a:avLst>
            </a:prstGeom>
            <a:solidFill>
              <a:srgbClr val="5B5B79"/>
            </a:solidFill>
            <a:ln>
              <a:solidFill>
                <a:srgbClr val="71D2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663C9A6-46DF-81A3-A48F-45698654A1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3361" y="1702272"/>
            <a:ext cx="3105279" cy="772772"/>
          </a:xfrm>
          <a:prstGeom prst="roundRect">
            <a:avLst/>
          </a:prstGeom>
          <a:solidFill>
            <a:srgbClr val="71D2E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Concept en 2 parties</a:t>
            </a:r>
          </a:p>
        </p:txBody>
      </p:sp>
    </p:spTree>
    <p:extLst>
      <p:ext uri="{BB962C8B-B14F-4D97-AF65-F5344CB8AC3E}">
        <p14:creationId xmlns:p14="http://schemas.microsoft.com/office/powerpoint/2010/main" val="3182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- plusieurs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E5ABDEF-01FD-8CCA-19AA-111C00997CA3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3BA4E8-ED0E-F2CD-BB96-1DD4C9038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Titre de la section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17FD28-A841-7958-29F2-07974F42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16B1AA-FD11-8AE2-1BD6-73E6162AEB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7578F135-D8F7-47F7-0CFD-C3A97721B18C}"/>
              </a:ext>
            </a:extLst>
          </p:cNvPr>
          <p:cNvGrpSpPr/>
          <p:nvPr userDrawn="1"/>
        </p:nvGrpSpPr>
        <p:grpSpPr>
          <a:xfrm>
            <a:off x="838200" y="1842072"/>
            <a:ext cx="2543433" cy="4222608"/>
            <a:chOff x="838200" y="1842072"/>
            <a:chExt cx="2543433" cy="4222608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5748C156-C4C4-1F0C-D953-A911F7863188}"/>
                </a:ext>
              </a:extLst>
            </p:cNvPr>
            <p:cNvSpPr/>
            <p:nvPr userDrawn="1"/>
          </p:nvSpPr>
          <p:spPr>
            <a:xfrm>
              <a:off x="838200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Organigramme : Connecteur page suivante 14">
              <a:extLst>
                <a:ext uri="{FF2B5EF4-FFF2-40B4-BE49-F238E27FC236}">
                  <a16:creationId xmlns:a16="http://schemas.microsoft.com/office/drawing/2014/main" id="{A2F626C5-4395-1DC9-40DF-8EE82174662A}"/>
                </a:ext>
              </a:extLst>
            </p:cNvPr>
            <p:cNvSpPr/>
            <p:nvPr userDrawn="1"/>
          </p:nvSpPr>
          <p:spPr>
            <a:xfrm>
              <a:off x="1335560" y="1842072"/>
              <a:ext cx="1548713" cy="1057647"/>
            </a:xfrm>
            <a:prstGeom prst="flowChartOffpageConnector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3BF0349-74EB-1400-A51D-D52A74D1998E}"/>
              </a:ext>
            </a:extLst>
          </p:cNvPr>
          <p:cNvGrpSpPr/>
          <p:nvPr userDrawn="1"/>
        </p:nvGrpSpPr>
        <p:grpSpPr>
          <a:xfrm>
            <a:off x="3552567" y="1842072"/>
            <a:ext cx="2543433" cy="4222608"/>
            <a:chOff x="3552567" y="1842072"/>
            <a:chExt cx="2543433" cy="4222608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9C2EFB3C-C6DA-F9A3-F1D9-471DD4D1DF46}"/>
                </a:ext>
              </a:extLst>
            </p:cNvPr>
            <p:cNvSpPr/>
            <p:nvPr userDrawn="1"/>
          </p:nvSpPr>
          <p:spPr>
            <a:xfrm>
              <a:off x="3552567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Organigramme : Connecteur page suivante 26">
              <a:extLst>
                <a:ext uri="{FF2B5EF4-FFF2-40B4-BE49-F238E27FC236}">
                  <a16:creationId xmlns:a16="http://schemas.microsoft.com/office/drawing/2014/main" id="{D8238C5D-3C83-DCA4-B3B1-5D13C734A19B}"/>
                </a:ext>
              </a:extLst>
            </p:cNvPr>
            <p:cNvSpPr/>
            <p:nvPr userDrawn="1"/>
          </p:nvSpPr>
          <p:spPr>
            <a:xfrm>
              <a:off x="4049927" y="1842072"/>
              <a:ext cx="1548713" cy="1057647"/>
            </a:xfrm>
            <a:prstGeom prst="flowChartOffpageConnector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BB8CE9E9-C1A8-EA80-020E-F74BCAC88328}"/>
              </a:ext>
            </a:extLst>
          </p:cNvPr>
          <p:cNvGrpSpPr/>
          <p:nvPr userDrawn="1"/>
        </p:nvGrpSpPr>
        <p:grpSpPr>
          <a:xfrm>
            <a:off x="6266934" y="1842072"/>
            <a:ext cx="2543433" cy="4222608"/>
            <a:chOff x="6266934" y="1842072"/>
            <a:chExt cx="2543433" cy="4222608"/>
          </a:xfrm>
        </p:grpSpPr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3E92322E-DC5F-AD76-71FC-171705E9E391}"/>
                </a:ext>
              </a:extLst>
            </p:cNvPr>
            <p:cNvSpPr/>
            <p:nvPr userDrawn="1"/>
          </p:nvSpPr>
          <p:spPr>
            <a:xfrm>
              <a:off x="6266934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Organigramme : Connecteur page suivante 28">
              <a:extLst>
                <a:ext uri="{FF2B5EF4-FFF2-40B4-BE49-F238E27FC236}">
                  <a16:creationId xmlns:a16="http://schemas.microsoft.com/office/drawing/2014/main" id="{E1860555-7C75-3E31-49E1-FCCA0A3A4FA3}"/>
                </a:ext>
              </a:extLst>
            </p:cNvPr>
            <p:cNvSpPr/>
            <p:nvPr userDrawn="1"/>
          </p:nvSpPr>
          <p:spPr>
            <a:xfrm>
              <a:off x="6764294" y="1842072"/>
              <a:ext cx="1548713" cy="1057647"/>
            </a:xfrm>
            <a:prstGeom prst="flowChartOffpageConnector">
              <a:avLst/>
            </a:prstGeom>
            <a:solidFill>
              <a:srgbClr val="206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A54D8A91-F637-200B-FBB0-95A833FB32D4}"/>
              </a:ext>
            </a:extLst>
          </p:cNvPr>
          <p:cNvGrpSpPr/>
          <p:nvPr userDrawn="1"/>
        </p:nvGrpSpPr>
        <p:grpSpPr>
          <a:xfrm>
            <a:off x="8981301" y="1842072"/>
            <a:ext cx="2543433" cy="4222608"/>
            <a:chOff x="8981301" y="1842072"/>
            <a:chExt cx="2543433" cy="4222608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EA8394B1-FE91-FDEF-24FB-DFF31AEB93D6}"/>
                </a:ext>
              </a:extLst>
            </p:cNvPr>
            <p:cNvSpPr/>
            <p:nvPr userDrawn="1"/>
          </p:nvSpPr>
          <p:spPr>
            <a:xfrm>
              <a:off x="8981301" y="2456507"/>
              <a:ext cx="2543433" cy="36081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A7A7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Organigramme : Connecteur page suivante 30">
              <a:extLst>
                <a:ext uri="{FF2B5EF4-FFF2-40B4-BE49-F238E27FC236}">
                  <a16:creationId xmlns:a16="http://schemas.microsoft.com/office/drawing/2014/main" id="{7856D4DD-8D00-BEE8-D986-0726A062AED4}"/>
                </a:ext>
              </a:extLst>
            </p:cNvPr>
            <p:cNvSpPr/>
            <p:nvPr userDrawn="1"/>
          </p:nvSpPr>
          <p:spPr>
            <a:xfrm>
              <a:off x="9478661" y="1842072"/>
              <a:ext cx="1548713" cy="1057647"/>
            </a:xfrm>
            <a:prstGeom prst="flowChartOffpageConnector">
              <a:avLst/>
            </a:prstGeom>
            <a:solidFill>
              <a:srgbClr val="25A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7" name="Espace réservé du contenu 36">
            <a:extLst>
              <a:ext uri="{FF2B5EF4-FFF2-40B4-BE49-F238E27FC236}">
                <a16:creationId xmlns:a16="http://schemas.microsoft.com/office/drawing/2014/main" id="{A2CF76E2-E7E1-6D7B-D060-40A7942CB7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42438" y="1944686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4A4A62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38" name="Espace réservé du contenu 36">
            <a:extLst>
              <a:ext uri="{FF2B5EF4-FFF2-40B4-BE49-F238E27FC236}">
                <a16:creationId xmlns:a16="http://schemas.microsoft.com/office/drawing/2014/main" id="{ADBAF218-A853-980C-30C9-2E3B99763D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754" y="1944685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39" name="Espace réservé du contenu 36">
            <a:extLst>
              <a:ext uri="{FF2B5EF4-FFF2-40B4-BE49-F238E27FC236}">
                <a16:creationId xmlns:a16="http://schemas.microsoft.com/office/drawing/2014/main" id="{600E4F79-5373-B97E-329E-B98355A91A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75075" y="1936187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40" name="Espace réservé du contenu 36">
            <a:extLst>
              <a:ext uri="{FF2B5EF4-FFF2-40B4-BE49-F238E27FC236}">
                <a16:creationId xmlns:a16="http://schemas.microsoft.com/office/drawing/2014/main" id="{488E07EE-E9BB-A5A1-C76E-95D1513658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589442" y="1947007"/>
            <a:ext cx="1327150" cy="6746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424258"/>
                </a:solidFill>
              </a:defRPr>
            </a:lvl1pPr>
          </a:lstStyle>
          <a:p>
            <a:pPr lvl="0"/>
            <a:r>
              <a:rPr lang="fr-FR" dirty="0"/>
              <a:t>Titre ou illustration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56E7FBB0-DF09-0921-222E-DD3D589F1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9363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3" name="Espace réservé du texte 41">
            <a:extLst>
              <a:ext uri="{FF2B5EF4-FFF2-40B4-BE49-F238E27FC236}">
                <a16:creationId xmlns:a16="http://schemas.microsoft.com/office/drawing/2014/main" id="{DF26E0C9-FBE9-E740-E49F-2F7257673B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7633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4" name="Espace réservé du texte 41">
            <a:extLst>
              <a:ext uri="{FF2B5EF4-FFF2-40B4-BE49-F238E27FC236}">
                <a16:creationId xmlns:a16="http://schemas.microsoft.com/office/drawing/2014/main" id="{5C7C923B-C1C0-EF54-D8B4-65C5AF414D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02000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5" name="Espace réservé du texte 41">
            <a:extLst>
              <a:ext uri="{FF2B5EF4-FFF2-40B4-BE49-F238E27FC236}">
                <a16:creationId xmlns:a16="http://schemas.microsoft.com/office/drawing/2014/main" id="{D4E8BB42-79C9-4C5A-77A0-9029AAD2F5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6367" y="2999415"/>
            <a:ext cx="2273300" cy="2760662"/>
          </a:xfrm>
        </p:spPr>
        <p:txBody>
          <a:bodyPr>
            <a:normAutofit/>
          </a:bodyPr>
          <a:lstStyle>
            <a:lvl1pPr marL="285750" indent="-285750" algn="l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6" name="Espace réservé du texte 11">
            <a:extLst>
              <a:ext uri="{FF2B5EF4-FFF2-40B4-BE49-F238E27FC236}">
                <a16:creationId xmlns:a16="http://schemas.microsoft.com/office/drawing/2014/main" id="{AFF93534-C1AB-0141-49B8-27EC434420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59108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61891-1E8B-3D01-DCBF-C4CD8C6DB33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C31531-CC31-1E49-1881-7BFD4ECE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0D57D2-EF54-6E25-A7DB-3F13BEB31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6C98F2-3150-88BA-C74E-BB2E07D17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E8975F-07BA-E08B-91BE-B463457E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FC0D-29F7-4777-896F-A8E4CEFE1F67}" type="datetimeyyyy">
              <a:rPr lang="fr-FR" smtClean="0"/>
              <a:t>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FBCF90-3309-AB5A-F3D2-762A4301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BF19F8-139E-68AC-A240-173B1ADDD1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258546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CF42BD-9BF7-B045-6617-A33BFE44A3A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E30D4E-D5B7-9ED8-D08F-C8352668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10746"/>
            <a:ext cx="10515600" cy="117994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EA7AAB-F2F6-8084-B7F4-9F088F840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FEC4D8-5020-EB6A-F0CA-69CE00959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17D4A7A-C302-36FC-7D74-860ADC359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0661E3-D84F-AFB2-7449-BE0128B1B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7A98C2-8903-EAAD-A47E-D99AFF21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6BEAC-7943-498B-9EF2-580D93DEA112}" type="datetimeyyyy">
              <a:rPr lang="fr-FR" smtClean="0"/>
              <a:t>2026</a:t>
            </a:fld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B683AA8-8277-D19E-C9C6-E25D7194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F28BD7F1-EB1F-D02F-3732-D79EAD44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178432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2C47A-A6DB-833F-D562-AC20A30E0EB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145B3E-3E19-29D9-1753-D229D9C9B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DB8875C-4376-ABBB-2C21-B57321E7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4373B-7856-40F1-9D3D-FF5BDB39C76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21BBBB-79BA-E69A-0C83-5E144D89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9B6F674-204A-8985-6826-6EB7178B6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43792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A103B9-62A5-FC98-A193-8C1D5DF66781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E6C719-F042-5E7E-EDA9-EAE4790C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9032-9EB4-4B00-B74D-BCCB3024EC82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7BEBF4-57BA-D273-E3F4-76EFE932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510A00C4-60CB-B965-4A56-B060642410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133079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873772-C5BD-EF30-B64D-60E8F0A04127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FE891B-6564-6F32-F3DD-C46194F6C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4EE98E-CCD3-C769-A2C0-C3E2CB859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651431-4F25-EF3C-4DFF-1F50CE6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5071-0BFD-4152-85CA-FEA422DAC900}" type="datetimeyyyy">
              <a:rPr lang="fr-FR" smtClean="0"/>
              <a:t>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B0ABA8-5DE6-4278-AC51-13A66F54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ABF0DF1-DA2B-1430-EB38-6C88508FE0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9BA6FEA-663B-CCBA-1870-92664246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79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3B78E31-49B4-4C98-35F7-4A9B26A42C2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864824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746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56F02A-CF0A-07AD-5960-D20A84A9EAC7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7AB0E8-F798-0CEB-525F-35951605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79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8930AE-EF85-43DB-CF82-E4AA2DF29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1B9E7B-E289-56AF-CE69-C4D2C50C8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06FB5F-CA13-67A5-328D-A01CD55F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4B8A-C714-4626-B6C0-3E84D6D6DE95}" type="datetimeyyyy">
              <a:rPr lang="fr-FR" smtClean="0"/>
              <a:t>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B413F9-8B0C-F7D0-C3E0-BE8AE068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EA2250C0-3893-05FF-F504-4C0518E5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0C0BF3B-4B56-57F0-9454-E36615D2E98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864824"/>
            <a:ext cx="3710050" cy="0"/>
          </a:xfrm>
          <a:prstGeom prst="line">
            <a:avLst/>
          </a:prstGeom>
          <a:ln w="19050">
            <a:solidFill>
              <a:srgbClr val="5B5B7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02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F0718D-9C04-8D7D-D540-4CCEC90C5C62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4E8327-616B-F79F-443A-4AE72FC4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5A6EAB-57FE-DA2D-68B0-7891CCF71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619196-F478-CABB-EF81-54E25112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8CE34-6387-4921-B3A1-E249F36821DE}" type="datetimeyyyy">
              <a:rPr lang="fr-FR" smtClean="0"/>
              <a:t>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131513-73B6-6AE4-BB65-E4BA8B9C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305E9670-B68B-C976-D9D3-49DFA10B80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4088956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A8A32C-ACF0-D9E3-EC70-696005017F48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FFEF69-2F73-F876-8971-59820927D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634104-E63E-90E1-B5A1-DC55CF271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B36427-4724-260B-8EC8-961BA4C9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2FB00-082A-4260-887A-8C9B87625693}" type="datetimeyyyy">
              <a:rPr lang="fr-FR" smtClean="0"/>
              <a:t>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783CD-8A2A-4B3A-609D-E89E9657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0A6E1AE5-CB5F-8202-A627-3817EADFF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3658370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s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5D439B-41BD-EB97-889C-BE18F254A3FA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A23F04-DF34-6B3B-3037-F668966C36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Références ou bibliographie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B7C293-8CE0-1A85-9CE0-64E31632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133313-2EC6-6E4E-8013-190DAD357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57BA116-23C6-1952-15A8-0B721DD01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844675"/>
            <a:ext cx="10515600" cy="4168775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</a:lstStyle>
          <a:p>
            <a:pPr lvl="0"/>
            <a:r>
              <a:rPr lang="fr-FR" dirty="0"/>
              <a:t>Ajouter une référence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fr-FR" dirty="0"/>
              <a:t>Ajouter une référence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fr-FR" dirty="0"/>
              <a:t>Ajouter une référence</a:t>
            </a:r>
          </a:p>
          <a:p>
            <a:pPr lvl="0"/>
            <a:endParaRPr lang="fr-FR" dirty="0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4482D385-9979-2085-FC65-A5159B3FAA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</p:spTree>
    <p:extLst>
      <p:ext uri="{BB962C8B-B14F-4D97-AF65-F5344CB8AC3E}">
        <p14:creationId xmlns:p14="http://schemas.microsoft.com/office/powerpoint/2010/main" val="174023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des questions"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A4EE99A-F5B1-BBD4-97A3-DD7B2F54D7DC}"/>
              </a:ext>
            </a:extLst>
          </p:cNvPr>
          <p:cNvSpPr/>
          <p:nvPr userDrawn="1"/>
        </p:nvSpPr>
        <p:spPr>
          <a:xfrm>
            <a:off x="10890422" y="6419871"/>
            <a:ext cx="1301578" cy="230702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4FAAF2-B642-EB5D-4A97-66009369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4A2024-F4FD-6758-402B-4471DA6D3B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8ECBAD1-7E72-DDDD-D8B6-3EC4B272A93D}"/>
              </a:ext>
            </a:extLst>
          </p:cNvPr>
          <p:cNvGrpSpPr/>
          <p:nvPr userDrawn="1"/>
        </p:nvGrpSpPr>
        <p:grpSpPr>
          <a:xfrm>
            <a:off x="2760767" y="954757"/>
            <a:ext cx="6670467" cy="3980936"/>
            <a:chOff x="2760767" y="954757"/>
            <a:chExt cx="6670467" cy="3980936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C96A5F74-4EDA-8340-4711-FBE8133840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51234" y="4335359"/>
              <a:ext cx="4680000" cy="0"/>
            </a:xfrm>
            <a:prstGeom prst="line">
              <a:avLst/>
            </a:prstGeom>
            <a:ln w="57150">
              <a:solidFill>
                <a:srgbClr val="2987B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aphique 5" descr="Point d’interrogation avec un remplissage uni">
              <a:extLst>
                <a:ext uri="{FF2B5EF4-FFF2-40B4-BE49-F238E27FC236}">
                  <a16:creationId xmlns:a16="http://schemas.microsoft.com/office/drawing/2014/main" id="{232B2E10-4EE6-0672-10A8-97AD1A123C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60767" y="954757"/>
              <a:ext cx="3980936" cy="3980936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8DBEF87-E07A-0228-8ADE-476D96AE65E1}"/>
                </a:ext>
              </a:extLst>
            </p:cNvPr>
            <p:cNvSpPr txBox="1"/>
            <p:nvPr userDrawn="1"/>
          </p:nvSpPr>
          <p:spPr>
            <a:xfrm>
              <a:off x="5325825" y="3653561"/>
              <a:ext cx="4105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>
                  <a:solidFill>
                    <a:srgbClr val="424258"/>
                  </a:solidFill>
                  <a:latin typeface="Georgia" panose="02040502050405020303" pitchFamily="18" charset="0"/>
                </a:rPr>
                <a:t>Des questions</a:t>
              </a: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67B14DD-3870-156A-63AF-3CCA4D27A203}"/>
                </a:ext>
              </a:extLst>
            </p:cNvPr>
            <p:cNvSpPr/>
            <p:nvPr userDrawn="1"/>
          </p:nvSpPr>
          <p:spPr>
            <a:xfrm>
              <a:off x="4434078" y="4018202"/>
              <a:ext cx="634314" cy="634314"/>
            </a:xfrm>
            <a:prstGeom prst="ellipse">
              <a:avLst/>
            </a:prstGeom>
            <a:solidFill>
              <a:srgbClr val="4242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14655CF6-E63D-9163-737C-D83572CF548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252784" y="6352660"/>
            <a:ext cx="4114800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Ajouter le titre du cours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EA24B588-3DBF-A726-967D-AB8ADD29CF2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527504" y="4414076"/>
            <a:ext cx="3702050" cy="588963"/>
          </a:xfrm>
        </p:spPr>
        <p:txBody>
          <a:bodyPr>
            <a:normAutofit/>
          </a:bodyPr>
          <a:lstStyle>
            <a:lvl1pPr marL="0" indent="0" algn="ctr">
              <a:buNone/>
              <a:defRPr sz="1400" u="sng">
                <a:solidFill>
                  <a:srgbClr val="2987B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/>
              <a:t>pedagogie@caplogy.com</a:t>
            </a:r>
          </a:p>
        </p:txBody>
      </p:sp>
    </p:spTree>
    <p:extLst>
      <p:ext uri="{BB962C8B-B14F-4D97-AF65-F5344CB8AC3E}">
        <p14:creationId xmlns:p14="http://schemas.microsoft.com/office/powerpoint/2010/main" val="1308271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741E-E3D1-4A83-852E-AA16E0740FD5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08DD-97BD-4AD5-A494-A4CF180F1D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76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2069C91-A4D4-8CA5-6199-7A20881E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654"/>
            <a:ext cx="10515600" cy="118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BCEF7D-6751-F5E5-AF84-287663674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0C72FC-4917-989C-A94A-6295B855D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7A63F-C241-4404-9972-321D22827E34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8C0975-BF95-82D7-43F5-E7841C258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3F4F7-518B-459F-9B80-EE04630AFE87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6AA69FA7-EEC4-E87B-DAFD-E44C23653769}"/>
              </a:ext>
            </a:extLst>
          </p:cNvPr>
          <p:cNvSpPr txBox="1">
            <a:spLocks/>
          </p:cNvSpPr>
          <p:nvPr userDrawn="1"/>
        </p:nvSpPr>
        <p:spPr>
          <a:xfrm>
            <a:off x="1238763" y="6352660"/>
            <a:ext cx="2260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Caplogy</a:t>
            </a:r>
            <a:r>
              <a:rPr lang="en-US" dirty="0"/>
              <a:t>. All rights reserved.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4FCBDBCF-5A12-C29D-2610-03BE24A7437D}"/>
              </a:ext>
            </a:extLst>
          </p:cNvPr>
          <p:cNvSpPr txBox="1">
            <a:spLocks/>
          </p:cNvSpPr>
          <p:nvPr userDrawn="1"/>
        </p:nvSpPr>
        <p:spPr>
          <a:xfrm>
            <a:off x="616808" y="6352660"/>
            <a:ext cx="254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</a:t>
            </a:r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D82E456-4F5B-ED13-049E-0F4CA0F75433}"/>
              </a:ext>
            </a:extLst>
          </p:cNvPr>
          <p:cNvGrpSpPr/>
          <p:nvPr userDrawn="1"/>
        </p:nvGrpSpPr>
        <p:grpSpPr>
          <a:xfrm>
            <a:off x="871662" y="203150"/>
            <a:ext cx="10448676" cy="263611"/>
            <a:chOff x="453006" y="203150"/>
            <a:chExt cx="10448676" cy="263611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E7706A3F-8943-3CB5-9E28-108FD79C1D37}"/>
                </a:ext>
              </a:extLst>
            </p:cNvPr>
            <p:cNvCxnSpPr/>
            <p:nvPr userDrawn="1"/>
          </p:nvCxnSpPr>
          <p:spPr>
            <a:xfrm>
              <a:off x="453006" y="334956"/>
              <a:ext cx="1518407" cy="0"/>
            </a:xfrm>
            <a:prstGeom prst="line">
              <a:avLst/>
            </a:prstGeom>
            <a:ln w="12700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FACB53A-96F9-3BF7-FFCC-2CC0660F97A8}"/>
                </a:ext>
              </a:extLst>
            </p:cNvPr>
            <p:cNvCxnSpPr/>
            <p:nvPr userDrawn="1"/>
          </p:nvCxnSpPr>
          <p:spPr>
            <a:xfrm>
              <a:off x="1971413" y="336279"/>
              <a:ext cx="1518407" cy="0"/>
            </a:xfrm>
            <a:prstGeom prst="line">
              <a:avLst/>
            </a:prstGeom>
            <a:ln w="12700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9CDC8A8D-8B79-0342-7E8A-F21DA9AF44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81582" y="334956"/>
              <a:ext cx="3710050" cy="0"/>
            </a:xfrm>
            <a:prstGeom prst="line">
              <a:avLst/>
            </a:prstGeom>
            <a:ln w="127000">
              <a:solidFill>
                <a:srgbClr val="71D2E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B8D5A887-E1E7-F907-EEC9-6501157DF8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191632" y="334956"/>
              <a:ext cx="3710050" cy="0"/>
            </a:xfrm>
            <a:prstGeom prst="line">
              <a:avLst/>
            </a:prstGeom>
            <a:ln w="127000">
              <a:solidFill>
                <a:srgbClr val="5B5B79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02290E2-4476-37F5-433A-33FF82E174EB}"/>
                </a:ext>
              </a:extLst>
            </p:cNvPr>
            <p:cNvSpPr/>
            <p:nvPr userDrawn="1"/>
          </p:nvSpPr>
          <p:spPr>
            <a:xfrm>
              <a:off x="1839607" y="203150"/>
              <a:ext cx="263611" cy="263611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14A72BC-4345-EDD5-1D37-B9E3B148B27D}"/>
                </a:ext>
              </a:extLst>
            </p:cNvPr>
            <p:cNvSpPr/>
            <p:nvPr userDrawn="1"/>
          </p:nvSpPr>
          <p:spPr>
            <a:xfrm>
              <a:off x="3349777" y="203150"/>
              <a:ext cx="263611" cy="263611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0A5F1D4-E0F3-239E-C3FA-17D9A337D25D}"/>
                </a:ext>
              </a:extLst>
            </p:cNvPr>
            <p:cNvSpPr/>
            <p:nvPr userDrawn="1"/>
          </p:nvSpPr>
          <p:spPr>
            <a:xfrm>
              <a:off x="7059826" y="203150"/>
              <a:ext cx="263611" cy="263611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76737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5" r:id="rId3"/>
    <p:sldLayoutId id="2147483668" r:id="rId4"/>
    <p:sldLayoutId id="2147483651" r:id="rId5"/>
    <p:sldLayoutId id="2147483650" r:id="rId6"/>
    <p:sldLayoutId id="2147483661" r:id="rId7"/>
    <p:sldLayoutId id="2147483662" r:id="rId8"/>
    <p:sldLayoutId id="2147483663" r:id="rId9"/>
    <p:sldLayoutId id="2147483664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6" r:id="rId19"/>
    <p:sldLayoutId id="2147483667" r:id="rId20"/>
    <p:sldLayoutId id="2147483669" r:id="rId2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B5B79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BCB028-D7A6-BB7D-CD5D-FE2E99581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617" y="1405218"/>
            <a:ext cx="9300882" cy="2366682"/>
          </a:xfrm>
        </p:spPr>
        <p:txBody>
          <a:bodyPr>
            <a:normAutofit fontScale="90000"/>
          </a:bodyPr>
          <a:lstStyle/>
          <a:p>
            <a:r>
              <a:rPr lang="fr" dirty="0"/>
              <a:t> La modélisation dimentionnelle des données </a:t>
            </a:r>
            <a:endParaRPr lang="fr-FR" sz="54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9576FE-4E86-6B8D-4789-B74F4E0D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FB23-3DE5-4888-A54C-CBA35DA6E3FD}" type="datetimeyyyy">
              <a:rPr lang="fr-FR" smtClean="0"/>
              <a:t>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445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AA45A9-CC28-63B0-E783-3A2DBD1C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6590A6-53A6-A7CE-990D-808C5F2EA3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</a:t>
            </a:fld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29BB2-B43C-C836-D730-23393E27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dirty="0"/>
              <a:t>Objectifs du cours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12CE9-08C6-6159-C833-5333B887FE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6613" y="2405063"/>
            <a:ext cx="8973016" cy="3698875"/>
          </a:xfrm>
        </p:spPr>
        <p:txBody>
          <a:bodyPr/>
          <a:lstStyle/>
          <a:p>
            <a:r>
              <a:rPr lang="fr-FR" dirty="0"/>
              <a:t>Différencier entre les schémas d'étoile, de flocon de neige et de constellation et comprendre quand utiliser chacun .</a:t>
            </a:r>
          </a:p>
          <a:p>
            <a:r>
              <a:rPr lang="fr-FR" dirty="0"/>
              <a:t>Définir faits , dimensions et granularité niveaux et explorer comment les agrégations soutiennent la prise de décision .</a:t>
            </a:r>
          </a:p>
          <a:p>
            <a:r>
              <a:rPr lang="fr-FR" dirty="0"/>
              <a:t>Gérez les modifications des données de dimension au fil du temps à l'aide des « </a:t>
            </a:r>
            <a:r>
              <a:rPr lang="fr-FR" dirty="0" err="1"/>
              <a:t>Slowly</a:t>
            </a:r>
            <a:r>
              <a:rPr lang="fr-FR" dirty="0"/>
              <a:t> </a:t>
            </a:r>
            <a:r>
              <a:rPr lang="fr-FR" dirty="0" err="1"/>
              <a:t>Changing</a:t>
            </a:r>
            <a:r>
              <a:rPr lang="fr-FR" dirty="0"/>
              <a:t> Dimensions » (SCD), avec un accent sur les types 1, 2, 3 et 4 et leurs cas d'utilisation pratiques .</a:t>
            </a:r>
          </a:p>
          <a:p>
            <a:endParaRPr lang="fr-FR" dirty="0"/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38CC49-2622-0B1A-2D53-5D3F98BF5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67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DF535A1-3308-0C93-2E77-D7C8BB5B9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8600" y="2574838"/>
            <a:ext cx="3744000" cy="4619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fr" sz="1700" dirty="0"/>
              <a:t>   Introduction</a:t>
            </a:r>
            <a:endParaRPr lang="fr-FR" sz="170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FAA55FF-4643-CDE8-A5EA-C0E30FC2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dirty="0"/>
              <a:t>Plan de cours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E092AA-26BB-C7D3-614A-F0B80C3F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5071-0BFD-4152-85CA-FEA422DAC900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185369-3F66-7A0F-B8CA-3ABD22F0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80D8807-8794-0AF4-DE6D-93336B486F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" dirty="0"/>
              <a:t>Titre du cours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A70B84-0387-717D-6809-5258C1CB23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3656" y="2623257"/>
            <a:ext cx="369888" cy="365125"/>
          </a:xfrm>
        </p:spPr>
        <p:txBody>
          <a:bodyPr/>
          <a:lstStyle/>
          <a:p>
            <a:r>
              <a:rPr lang="fr" dirty="0"/>
              <a:t>1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8F481C4-5D44-C4DB-1F3B-BB7434E0D1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53" y="4026505"/>
            <a:ext cx="3794901" cy="461964"/>
          </a:xfrm>
        </p:spPr>
        <p:txBody>
          <a:bodyPr anchor="b">
            <a:noAutofit/>
          </a:bodyPr>
          <a:lstStyle/>
          <a:p>
            <a:r>
              <a:rPr lang="fr-FR" dirty="0"/>
              <a:t>  Les dimensions à évolution lente</a:t>
            </a:r>
            <a:endParaRPr lang="fr-FR" sz="200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047E046-2B13-9AB0-D087-35B687BAB5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79510" y="4074925"/>
            <a:ext cx="369888" cy="365125"/>
          </a:xfrm>
        </p:spPr>
        <p:txBody>
          <a:bodyPr/>
          <a:lstStyle/>
          <a:p>
            <a:r>
              <a:rPr lang="fr" dirty="0"/>
              <a:t>3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2D14271A-5DC9-FBB6-E8E6-72CD528FE744}"/>
              </a:ext>
            </a:extLst>
          </p:cNvPr>
          <p:cNvSpPr txBox="1">
            <a:spLocks/>
          </p:cNvSpPr>
          <p:nvPr/>
        </p:nvSpPr>
        <p:spPr>
          <a:xfrm>
            <a:off x="6864454" y="3274107"/>
            <a:ext cx="4753806" cy="515624"/>
          </a:xfrm>
          <a:prstGeom prst="roundRect">
            <a:avLst/>
          </a:prstGeom>
          <a:solidFill>
            <a:srgbClr val="5B5B79"/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   La modélisation dimensionnelle des données </a:t>
            </a:r>
            <a:endParaRPr lang="fr-FR" b="1" dirty="0"/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69F1A4A7-CD1C-F995-4E9B-126E668C48A5}"/>
              </a:ext>
            </a:extLst>
          </p:cNvPr>
          <p:cNvSpPr txBox="1">
            <a:spLocks/>
          </p:cNvSpPr>
          <p:nvPr/>
        </p:nvSpPr>
        <p:spPr>
          <a:xfrm>
            <a:off x="6726493" y="3390290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4A4A62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" dirty="0"/>
              <a:t>2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9CD8F0AA-E501-08D0-8F99-0C9A95632992}"/>
              </a:ext>
            </a:extLst>
          </p:cNvPr>
          <p:cNvSpPr txBox="1">
            <a:spLocks/>
          </p:cNvSpPr>
          <p:nvPr/>
        </p:nvSpPr>
        <p:spPr>
          <a:xfrm>
            <a:off x="6541483" y="4725774"/>
            <a:ext cx="4117871" cy="461964"/>
          </a:xfrm>
          <a:prstGeom prst="roundRect">
            <a:avLst/>
          </a:prstGeom>
          <a:solidFill>
            <a:srgbClr val="5B5B79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fr" sz="1600" dirty="0"/>
              <a:t>   Conclusion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591703A7-A4E2-A4CB-730D-6EA0BD70CE6D}"/>
              </a:ext>
            </a:extLst>
          </p:cNvPr>
          <p:cNvSpPr txBox="1">
            <a:spLocks/>
          </p:cNvSpPr>
          <p:nvPr/>
        </p:nvSpPr>
        <p:spPr>
          <a:xfrm>
            <a:off x="6356539" y="4774194"/>
            <a:ext cx="369888" cy="365125"/>
          </a:xfrm>
          <a:prstGeom prst="ellipse">
            <a:avLst/>
          </a:prstGeom>
          <a:solidFill>
            <a:srgbClr val="71D2E3"/>
          </a:solidFill>
          <a:ln w="28575">
            <a:solidFill>
              <a:srgbClr val="5B5B79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rgbClr val="4A4A62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"/>
              <a:t>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419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A8D38-0CA0-5CDE-0819-2AF98AD8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48D13D-A174-2A4D-C5DF-B5DE471B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020A41-146B-A50F-CC13-BAB2233E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4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1C330BA-BCC6-717C-97F1-D684D8AB2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" dirty="0"/>
              <a:t>Titre du cours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55BD9CA-6C43-4120-5DB3-1ED9B654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690030"/>
            <a:ext cx="10502900" cy="2808823"/>
          </a:xfrm>
        </p:spPr>
        <p:txBody>
          <a:bodyPr/>
          <a:lstStyle/>
          <a:p>
            <a:pPr algn="ctr"/>
            <a:r>
              <a:rPr lang="fr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7621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770C-F178-A20B-571D-4956D2FB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Qu'est-ce qu'un Data Warehouse (DWH)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BD7C-826A-F8CD-6396-CEAA77D24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Définition</a:t>
            </a:r>
            <a:r>
              <a:rPr lang="fr-FR" dirty="0"/>
              <a:t> : Un Data Warehouse est une base de données </a:t>
            </a:r>
            <a:r>
              <a:rPr lang="fr-FR" b="1" dirty="0"/>
              <a:t>orientée</a:t>
            </a:r>
            <a:r>
              <a:rPr lang="fr-FR" dirty="0"/>
              <a:t> </a:t>
            </a:r>
            <a:r>
              <a:rPr lang="fr-FR" b="1" dirty="0"/>
              <a:t>sujet</a:t>
            </a:r>
            <a:r>
              <a:rPr lang="fr-FR" dirty="0"/>
              <a:t>, </a:t>
            </a:r>
            <a:r>
              <a:rPr lang="fr-FR" b="1" dirty="0"/>
              <a:t>intégrée</a:t>
            </a:r>
            <a:r>
              <a:rPr lang="fr-FR" dirty="0"/>
              <a:t>, </a:t>
            </a:r>
            <a:r>
              <a:rPr lang="fr-FR" b="1" dirty="0"/>
              <a:t>non-volatile </a:t>
            </a:r>
            <a:r>
              <a:rPr lang="fr-FR" dirty="0"/>
              <a:t>et </a:t>
            </a:r>
            <a:r>
              <a:rPr lang="fr-FR" b="1" dirty="0"/>
              <a:t>historisée</a:t>
            </a:r>
            <a:r>
              <a:rPr lang="fr-FR" dirty="0"/>
              <a:t>.</a:t>
            </a:r>
          </a:p>
          <a:p>
            <a:r>
              <a:rPr lang="fr-FR" b="1" dirty="0"/>
              <a:t>Le Concept </a:t>
            </a:r>
            <a:r>
              <a:rPr lang="fr-FR" dirty="0"/>
              <a:t>: C’est une "</a:t>
            </a:r>
            <a:r>
              <a:rPr lang="fr-FR" b="1" dirty="0"/>
              <a:t>mémoire</a:t>
            </a:r>
            <a:r>
              <a:rPr lang="fr-FR" dirty="0"/>
              <a:t>" géante de l'entreprise.</a:t>
            </a:r>
          </a:p>
          <a:p>
            <a:pPr lvl="1"/>
            <a:r>
              <a:rPr lang="fr-FR" dirty="0"/>
              <a:t> Contrairement aux bases de production (qui gèrent les achats en cours), le DWH sert uniquement à </a:t>
            </a:r>
            <a:r>
              <a:rPr lang="fr-FR" b="1" dirty="0"/>
              <a:t>analyser le passé pour prévoir l'avenir</a:t>
            </a:r>
            <a:r>
              <a:rPr lang="fr-FR" dirty="0"/>
              <a:t>.</a:t>
            </a:r>
          </a:p>
          <a:p>
            <a:r>
              <a:rPr lang="fr-FR" b="1" dirty="0"/>
              <a:t>Analogie </a:t>
            </a:r>
            <a:r>
              <a:rPr lang="fr-FR" dirty="0"/>
              <a:t>: </a:t>
            </a:r>
          </a:p>
          <a:p>
            <a:pPr lvl="1"/>
            <a:r>
              <a:rPr lang="fr-FR" dirty="0"/>
              <a:t>La base de production est le ticket de caisse (immédiat) ; </a:t>
            </a:r>
          </a:p>
          <a:p>
            <a:pPr lvl="1"/>
            <a:r>
              <a:rPr lang="fr-FR" dirty="0"/>
              <a:t>le Data Warehouse est le tableau de bord annuel du directeur (vision globale).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BA493-67FC-D748-4026-AEC9ED49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EC4D3-A4AB-DB7C-D30D-A35CA373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5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6402E6-8F57-5DD1-B31B-1A3CEE740F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70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49DC-D0C9-D9A4-D4DD-901A61BE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4 Piliers du Data Warehouse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CE09-C74A-E0A4-6EB0-AE631D08F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L'objectif de la modélisation est de </a:t>
            </a:r>
            <a:r>
              <a:rPr lang="fr-FR" b="1" dirty="0"/>
              <a:t>structurer les données pour l'analyse</a:t>
            </a:r>
            <a:r>
              <a:rPr lang="fr-FR" dirty="0"/>
              <a:t>. Pour y parvenir, l'entrepôt doit respecter ces quatre caractéristiques :</a:t>
            </a:r>
          </a:p>
          <a:p>
            <a:pPr marL="0" indent="0">
              <a:buNone/>
            </a:pPr>
            <a:r>
              <a:rPr lang="fr-FR" b="1" dirty="0"/>
              <a:t>1. Orienté Sujet</a:t>
            </a:r>
          </a:p>
          <a:p>
            <a:pPr lvl="1"/>
            <a:r>
              <a:rPr lang="fr-FR" dirty="0"/>
              <a:t>Contrairement aux logiciels de gestion qui sont orientés "processus" (ex: gérer une commande), le Data Warehouse se concentre sur les </a:t>
            </a:r>
            <a:r>
              <a:rPr lang="fr-FR" b="1" dirty="0"/>
              <a:t>thèmes majeurs</a:t>
            </a:r>
            <a:r>
              <a:rPr lang="fr-FR" dirty="0"/>
              <a:t> de l'entreprise.</a:t>
            </a:r>
          </a:p>
          <a:p>
            <a:pPr lvl="1"/>
            <a:r>
              <a:rPr lang="fr-FR" dirty="0"/>
              <a:t>On modélise autour de sujets comme les </a:t>
            </a:r>
            <a:r>
              <a:rPr lang="fr-FR" b="1" dirty="0"/>
              <a:t>Ventes</a:t>
            </a:r>
            <a:r>
              <a:rPr lang="fr-FR" dirty="0"/>
              <a:t>, les </a:t>
            </a:r>
            <a:r>
              <a:rPr lang="fr-FR" b="1" dirty="0"/>
              <a:t>Clients</a:t>
            </a:r>
            <a:r>
              <a:rPr lang="fr-FR" dirty="0"/>
              <a:t>, ou les </a:t>
            </a:r>
            <a:r>
              <a:rPr lang="fr-FR" b="1" dirty="0"/>
              <a:t>Produits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b="1" dirty="0"/>
              <a:t>2. Intégré</a:t>
            </a:r>
          </a:p>
          <a:p>
            <a:pPr lvl="1"/>
            <a:r>
              <a:rPr lang="fr-FR" dirty="0"/>
              <a:t>C'est le principe du </a:t>
            </a:r>
            <a:r>
              <a:rPr lang="fr-FR" b="1" dirty="0"/>
              <a:t>référentiel unique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On rassemble des données venant de sources différentes (Excel, SQL, Cloud) et on les uniformise.</a:t>
            </a:r>
          </a:p>
          <a:p>
            <a:pPr lvl="1"/>
            <a:r>
              <a:rPr lang="fr-FR" i="1" dirty="0"/>
              <a:t>Exemple :</a:t>
            </a:r>
            <a:r>
              <a:rPr lang="fr-FR" dirty="0"/>
              <a:t> Si la Source A note le genre "M/F" et la Source B "1/0", le DWH intègre et transforme tout en "Masculin/Féminin" pour garantir la </a:t>
            </a:r>
            <a:r>
              <a:rPr lang="fr-FR" b="1" dirty="0"/>
              <a:t>Qualité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01DB-4626-6167-1279-0AF5BADF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FE3DF-7732-77E0-3D4D-8CC5E7B8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6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71A4AF-4852-C669-B9DF-D6956E0EBC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506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E93D-2330-BC94-9E25-64EA8E03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4 Piliers du Data Warehouse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6ADFD-5397-06C3-0492-1C02B7F9A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3. Non-Volatile</a:t>
            </a:r>
          </a:p>
          <a:p>
            <a:pPr lvl="1"/>
            <a:r>
              <a:rPr lang="fr-FR" dirty="0"/>
              <a:t>Une donnée entrée dans le Data Warehouse ne doit jamais être supprimée ou modifiée par un utilisateur.</a:t>
            </a:r>
          </a:p>
          <a:p>
            <a:pPr lvl="1"/>
            <a:r>
              <a:rPr lang="fr-FR" dirty="0"/>
              <a:t>On ne fait que de l'</a:t>
            </a:r>
            <a:r>
              <a:rPr lang="fr-FR" b="1" dirty="0"/>
              <a:t>insertion</a:t>
            </a:r>
            <a:r>
              <a:rPr lang="fr-FR" dirty="0"/>
              <a:t>. Cela garantit que si vous lancez un rapport aujourd'hui ou dans un mois sur l'année 2023, vous obtiendrez exactement le même résultat.</a:t>
            </a:r>
          </a:p>
          <a:p>
            <a:pPr marL="0" indent="0">
              <a:buNone/>
            </a:pPr>
            <a:r>
              <a:rPr lang="fr-FR" b="1" dirty="0"/>
              <a:t>4. Historisé (Évolutif dans le temps)</a:t>
            </a:r>
          </a:p>
          <a:p>
            <a:pPr lvl="1"/>
            <a:r>
              <a:rPr lang="fr-FR" dirty="0"/>
              <a:t>C'est ici qu'intervient le concept de </a:t>
            </a:r>
            <a:r>
              <a:rPr lang="fr-FR" b="1" dirty="0"/>
              <a:t>SCD (</a:t>
            </a:r>
            <a:r>
              <a:rPr lang="fr-FR" b="1" dirty="0" err="1"/>
              <a:t>Slowly</a:t>
            </a:r>
            <a:r>
              <a:rPr lang="fr-FR" b="1" dirty="0"/>
              <a:t> </a:t>
            </a:r>
            <a:r>
              <a:rPr lang="fr-FR" b="1" dirty="0" err="1"/>
              <a:t>Changing</a:t>
            </a:r>
            <a:r>
              <a:rPr lang="fr-FR" b="1" dirty="0"/>
              <a:t> Dimensions)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Le DWH garde une trace de chaque changement. On ne se contente pas de l'état actuel, on stocke le passé pour analyser des tendances sur plusieurs années.</a:t>
            </a:r>
          </a:p>
          <a:p>
            <a:pPr lvl="1"/>
            <a:r>
              <a:rPr lang="fr-FR" dirty="0"/>
              <a:t>Cela permet de gérer l'</a:t>
            </a:r>
            <a:r>
              <a:rPr lang="fr-FR" b="1" dirty="0"/>
              <a:t>historisation (Type 2)</a:t>
            </a:r>
            <a:r>
              <a:rPr lang="fr-FR" dirty="0"/>
              <a:t> des informations.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D76F2-9CDC-0C5E-5B5D-79C8DCFB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3C814-A86F-A7FA-1A97-0062760F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7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1B4279-2547-FCA8-C6A6-75F3E8267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07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5D34-1791-2776-060E-2D883D32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rupture avec la modélisation classique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7391-6FBA-1E3C-C388-4B2A6B23C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Il est important de comprendre que pour construire un </a:t>
            </a:r>
            <a:r>
              <a:rPr lang="fr-FR" b="1" dirty="0"/>
              <a:t>Data Warehouse</a:t>
            </a:r>
            <a:r>
              <a:rPr lang="fr-FR" dirty="0"/>
              <a:t>, on n'utilise </a:t>
            </a:r>
            <a:r>
              <a:rPr lang="fr-FR" b="1" dirty="0"/>
              <a:t>pas</a:t>
            </a:r>
            <a:r>
              <a:rPr lang="fr-FR" dirty="0"/>
              <a:t> la modélisation classique des données (appelée "Normalisation" ou 3NF).</a:t>
            </a:r>
          </a:p>
          <a:p>
            <a:r>
              <a:rPr lang="fr-FR" dirty="0"/>
              <a:t>Dans vos cours précédents sur les bases de données (SQL standard), on vous a appris à diviser les tables pour éviter la répétition. </a:t>
            </a:r>
          </a:p>
          <a:p>
            <a:r>
              <a:rPr lang="fr-FR" dirty="0"/>
              <a:t>Ici, nous faisons l'inverse : nous </a:t>
            </a:r>
            <a:r>
              <a:rPr lang="fr-FR" b="1" dirty="0"/>
              <a:t>simplifions</a:t>
            </a:r>
            <a:r>
              <a:rPr lang="fr-FR" dirty="0"/>
              <a:t> pour favoriser </a:t>
            </a:r>
            <a:r>
              <a:rPr lang="fr-FR" b="1" dirty="0"/>
              <a:t>l'analyse</a:t>
            </a:r>
            <a:r>
              <a:rPr lang="fr-FR" dirty="0"/>
              <a:t>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1756A-48B7-FD86-EE97-844DF7E5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D6F8B-EDEF-479E-1FC4-421038A1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8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3D55C-F225-B406-0164-85E38230DB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87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D67D-C6D5-C4ED-B434-22A00684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ne pas utiliser les modèles classiques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ACC5-B164-4A3D-DE1D-F1BF1F0B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1. Le but est différent</a:t>
            </a:r>
          </a:p>
          <a:p>
            <a:pPr lvl="1"/>
            <a:r>
              <a:rPr lang="fr-FR" b="1" dirty="0"/>
              <a:t>Modèle Classique :</a:t>
            </a:r>
            <a:r>
              <a:rPr lang="fr-FR" dirty="0"/>
              <a:t> Conçu pour enregistrer des données rapidement sans erreur (Ex: faire un virement bancaire).</a:t>
            </a:r>
          </a:p>
          <a:p>
            <a:pPr lvl="1"/>
            <a:r>
              <a:rPr lang="fr-FR" b="1" dirty="0"/>
              <a:t>Modèle Data Warehouse :</a:t>
            </a:r>
            <a:r>
              <a:rPr lang="fr-FR" dirty="0"/>
              <a:t> Conçu pour </a:t>
            </a:r>
            <a:r>
              <a:rPr lang="fr-FR" b="1" dirty="0"/>
              <a:t>structurer les données pour l'analyse</a:t>
            </a:r>
            <a:r>
              <a:rPr lang="fr-FR" dirty="0"/>
              <a:t> globale.</a:t>
            </a:r>
          </a:p>
          <a:p>
            <a:pPr marL="0" indent="0">
              <a:buNone/>
            </a:pPr>
            <a:r>
              <a:rPr lang="fr-FR" b="1" dirty="0"/>
              <a:t>2. La recherche de simplicité et de rapidité</a:t>
            </a:r>
          </a:p>
          <a:p>
            <a:pPr lvl="1"/>
            <a:r>
              <a:rPr lang="fr-FR" b="1" dirty="0"/>
              <a:t>Simplicité pour l'utilisateur :</a:t>
            </a:r>
            <a:r>
              <a:rPr lang="fr-FR" dirty="0"/>
              <a:t> Un décideur doit pouvoir glisser-déposer des colonnes sans comprendre 50 jointures complexes.</a:t>
            </a:r>
          </a:p>
          <a:p>
            <a:pPr lvl="1"/>
            <a:r>
              <a:rPr lang="fr-FR" b="1" dirty="0"/>
              <a:t>Rapidité pour les rapports :</a:t>
            </a:r>
            <a:r>
              <a:rPr lang="fr-FR" dirty="0"/>
              <a:t> Les calculs sur des millions de lignes doivent être instantanés.</a:t>
            </a:r>
          </a:p>
          <a:p>
            <a:r>
              <a:rPr lang="fr-FR" b="1" dirty="0"/>
              <a:t>3. Les fonctionnalités absentes du modèle classique</a:t>
            </a:r>
          </a:p>
          <a:p>
            <a:pPr lvl="1"/>
            <a:r>
              <a:rPr lang="fr-FR" b="1" dirty="0"/>
              <a:t>La Granularité :</a:t>
            </a:r>
            <a:r>
              <a:rPr lang="fr-FR" dirty="0"/>
              <a:t> Définir précisément l'unité de mesure pour l'analyse (ligne de commande, événement).</a:t>
            </a:r>
          </a:p>
          <a:p>
            <a:pPr lvl="1"/>
            <a:r>
              <a:rPr lang="fr-FR" b="1" dirty="0"/>
              <a:t>Les SCD (Historisation) :</a:t>
            </a:r>
            <a:r>
              <a:rPr lang="fr-FR" dirty="0"/>
              <a:t> Suivre l'évolution des données dans le temps sans écraser le passé.</a:t>
            </a:r>
          </a:p>
          <a:p>
            <a:pPr lvl="1"/>
            <a:r>
              <a:rPr lang="fr-FR" b="1" dirty="0"/>
              <a:t>La Qualité décisionnelle :</a:t>
            </a:r>
            <a:r>
              <a:rPr lang="fr-FR" dirty="0"/>
              <a:t> Garantir un référentiel stable et des contraintes métier fortes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560FB-989F-6CAC-9602-E22D5742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904C6-6101-72EB-698B-4039747B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9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8A21F-07D2-4E31-C81A-603FE458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27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E613-EEF1-78F1-239D-394145D9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La modélisation dimensionnelle des données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A1D81-8DF4-CC8A-5DA7-8164670ED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060A1-D1A5-042C-3017-F8DD8DE0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AE33B-3587-21DD-4F31-A0095208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10</a:t>
            </a:fld>
            <a:endParaRPr lang="fr-F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554A9D-ADBF-F81D-226B-9201A49F7F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55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C519-9297-F451-D411-8F817A5E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au Modèle Dimensionnel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0C4A-31D8-4DE8-3963-5EB38B6A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Définition</a:t>
            </a:r>
            <a:r>
              <a:rPr lang="fr-FR" dirty="0"/>
              <a:t> : Contrairement au modèle classique qui mélange tout pour éviter les répétitions, le modèle dimensionnel sépare les données en deux catégories distinctes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ce que l'on mesure et le contexte de cette mesure.</a:t>
            </a:r>
          </a:p>
          <a:p>
            <a:r>
              <a:rPr lang="fr-FR" b="1" dirty="0"/>
              <a:t>Objectif</a:t>
            </a:r>
            <a:r>
              <a:rPr lang="fr-FR" dirty="0"/>
              <a:t> : Créer une structure intuitive qui ressemble à la façon dont les décideurs posent leurs questions (ex: "Combien de ventes par région et par mois ?").</a:t>
            </a:r>
          </a:p>
          <a:p>
            <a:r>
              <a:rPr lang="fr-FR" b="1" dirty="0"/>
              <a:t>Composants clés </a:t>
            </a:r>
            <a:r>
              <a:rPr lang="fr-FR" dirty="0"/>
              <a:t>:</a:t>
            </a:r>
          </a:p>
          <a:p>
            <a:pPr lvl="1"/>
            <a:r>
              <a:rPr lang="fr-FR" b="1" dirty="0"/>
              <a:t>Les Faits </a:t>
            </a:r>
            <a:r>
              <a:rPr lang="fr-FR" dirty="0"/>
              <a:t>: Le "Combien".</a:t>
            </a:r>
          </a:p>
          <a:p>
            <a:pPr lvl="1"/>
            <a:r>
              <a:rPr lang="fr-FR" b="1" dirty="0"/>
              <a:t>Les Dimensions </a:t>
            </a:r>
            <a:r>
              <a:rPr lang="fr-FR" dirty="0"/>
              <a:t>: Le "Qui, Quand, Quoi, Où".</a:t>
            </a:r>
          </a:p>
          <a:p>
            <a:r>
              <a:rPr lang="fr-FR" b="1" dirty="0"/>
              <a:t>Finalité</a:t>
            </a:r>
            <a:r>
              <a:rPr lang="fr-FR" dirty="0"/>
              <a:t> : Structurer les données pour l'analyse en garantissant simplicité et rapidité.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99A52-2D3E-0E57-C1A7-4D4F8963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96EAB-8C39-271D-7993-0D118E89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11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BA057-BE21-E97F-21B7-60405CBDD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39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FFDB-20C7-8DD3-5FD1-ACAA6534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Table des Faits (The Fact Table)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2CFEF-A7E7-9026-F9B8-16E4F7F6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La table de </a:t>
            </a:r>
            <a:r>
              <a:rPr lang="fr-FR" b="1" dirty="0"/>
              <a:t>faits</a:t>
            </a:r>
            <a:r>
              <a:rPr lang="fr-FR" dirty="0"/>
              <a:t> est l'élément central de tout schéma d'entrepôt de données. </a:t>
            </a:r>
          </a:p>
          <a:p>
            <a:r>
              <a:rPr lang="fr-FR" dirty="0"/>
              <a:t>Elle stocke les données </a:t>
            </a:r>
            <a:r>
              <a:rPr lang="fr-FR" b="1" dirty="0"/>
              <a:t>quantitatives</a:t>
            </a:r>
            <a:r>
              <a:rPr lang="fr-FR" dirty="0"/>
              <a:t> (mesures) que les organisations souhaitent analyser, telles que le montant des ventes, les quantités vendues ou les heures travaillées.</a:t>
            </a:r>
          </a:p>
          <a:p>
            <a:r>
              <a:rPr lang="fr-FR" dirty="0"/>
              <a:t>Les tables de faits sont conçues pour :</a:t>
            </a:r>
          </a:p>
          <a:p>
            <a:pPr lvl="1"/>
            <a:r>
              <a:rPr lang="fr-FR" sz="2400" dirty="0"/>
              <a:t>Contenir des mesures qui peuvent être </a:t>
            </a:r>
            <a:r>
              <a:rPr lang="fr-FR" sz="2400" b="1" dirty="0"/>
              <a:t>agrégées</a:t>
            </a:r>
            <a:r>
              <a:rPr lang="fr-FR" sz="2400" dirty="0"/>
              <a:t> (par exemple, SUM, AVG, COUNT).</a:t>
            </a:r>
          </a:p>
          <a:p>
            <a:pPr lvl="1"/>
            <a:r>
              <a:rPr lang="fr-FR" sz="2400" dirty="0"/>
              <a:t>Stockez </a:t>
            </a:r>
            <a:r>
              <a:rPr lang="fr-FR" sz="2400" b="1" dirty="0"/>
              <a:t>les clés étrangères </a:t>
            </a:r>
            <a:r>
              <a:rPr lang="fr-FR" sz="2400" dirty="0"/>
              <a:t>qui référencent </a:t>
            </a:r>
            <a:r>
              <a:rPr lang="fr-FR" sz="2400" b="1" dirty="0"/>
              <a:t>les clés primaires </a:t>
            </a:r>
            <a:r>
              <a:rPr lang="fr-FR" sz="2400" dirty="0"/>
              <a:t>des tables de dimension associées.</a:t>
            </a:r>
          </a:p>
          <a:p>
            <a:pPr lvl="1"/>
            <a:r>
              <a:rPr lang="fr-FR" sz="2400" dirty="0"/>
              <a:t>Fournir la base d’une </a:t>
            </a:r>
            <a:r>
              <a:rPr lang="fr-FR" sz="2400" b="1" dirty="0"/>
              <a:t>analyse</a:t>
            </a:r>
            <a:r>
              <a:rPr lang="fr-FR" sz="2400" dirty="0"/>
              <a:t> et d’un </a:t>
            </a:r>
            <a:r>
              <a:rPr lang="fr-FR" sz="2400" dirty="0" err="1"/>
              <a:t>reporting</a:t>
            </a:r>
            <a:r>
              <a:rPr lang="fr-FR" sz="2400" dirty="0"/>
              <a:t> </a:t>
            </a:r>
            <a:r>
              <a:rPr lang="fr-FR" sz="2400" b="1" dirty="0"/>
              <a:t>multidimensionnels</a:t>
            </a:r>
            <a:r>
              <a:rPr lang="fr-FR" sz="2400" dirty="0"/>
              <a:t>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F078-01EF-82B3-2DF1-98E5B12E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F5406-0322-E2F9-9C3F-0A6F9234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12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887783-4CA2-1B11-20E1-691057C37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12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2A50-D49E-3811-99DC-456BC830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Table des Faits (The Fact Table)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982FA-7D1C-3BE8-1424-27773E21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Caractéristiques principales :</a:t>
            </a:r>
          </a:p>
          <a:p>
            <a:pPr lvl="1"/>
            <a:r>
              <a:rPr lang="fr-FR" sz="2400" b="1" dirty="0"/>
              <a:t>Clé primaire </a:t>
            </a:r>
            <a:r>
              <a:rPr lang="fr-FR" sz="2400" dirty="0"/>
              <a:t>: identifie de manière unique chaque enregistrement dans la table de faits.</a:t>
            </a:r>
          </a:p>
          <a:p>
            <a:pPr lvl="1"/>
            <a:r>
              <a:rPr lang="fr-FR" sz="2400" b="1" dirty="0"/>
              <a:t>Clés étrangères </a:t>
            </a:r>
            <a:r>
              <a:rPr lang="fr-FR" sz="2400" dirty="0"/>
              <a:t>: lien vers les clés primaires des tables de dimensions associées.</a:t>
            </a:r>
          </a:p>
          <a:p>
            <a:pPr lvl="1"/>
            <a:r>
              <a:rPr lang="fr-FR" sz="2400" b="1" dirty="0"/>
              <a:t>Granularité</a:t>
            </a:r>
            <a:r>
              <a:rPr lang="fr-FR" sz="2400" dirty="0"/>
              <a:t> : C'est définir l'unité de mesure la plus basse (le "zoom").</a:t>
            </a:r>
          </a:p>
          <a:p>
            <a:pPr lvl="2"/>
            <a:r>
              <a:rPr lang="fr-FR" sz="2000" b="1" dirty="0"/>
              <a:t>Grain fin :</a:t>
            </a:r>
            <a:r>
              <a:rPr lang="fr-FR" sz="2000" dirty="0"/>
              <a:t> On enregistre chaque ligne de chaque commande.</a:t>
            </a:r>
          </a:p>
          <a:p>
            <a:pPr lvl="2"/>
            <a:r>
              <a:rPr lang="fr-FR" sz="2000" b="1" dirty="0"/>
              <a:t>Grain agrégé :</a:t>
            </a:r>
            <a:r>
              <a:rPr lang="fr-FR" sz="2000" dirty="0"/>
              <a:t> On enregistre seulement le total des ventes par jour.</a:t>
            </a:r>
          </a:p>
          <a:p>
            <a:pPr lvl="2"/>
            <a:r>
              <a:rPr lang="fr-FR" sz="2000" b="1" dirty="0"/>
              <a:t>Règle :</a:t>
            </a:r>
            <a:r>
              <a:rPr lang="fr-FR" sz="2000" dirty="0"/>
              <a:t> On essaie toujours de garder le grain le plus fin possible pour ne pas perdre d'information</a:t>
            </a:r>
            <a:r>
              <a:rPr lang="fr-FR" sz="2400" dirty="0"/>
              <a:t>.</a:t>
            </a:r>
          </a:p>
          <a:p>
            <a:endParaRPr lang="en-GB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3DE8C-8F03-C2B0-5DE9-31D326B9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80F06-DC6B-BA25-E37B-52CD5A16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13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BC636C-CC25-8E95-CB21-C02031655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73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1CE3-7441-D9AB-EB80-4E51919F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Tables de Dimensions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90DE-B275-E562-3367-AB4E0496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tables de dimensions contiennent des attributs descriptifs qui contextualisent les mesures de la table de faits.</a:t>
            </a:r>
          </a:p>
          <a:p>
            <a:r>
              <a:rPr lang="fr-FR" dirty="0"/>
              <a:t> Elles enrichissent les données numériques brutes avec des étiquettes et des hiérarchies pertinentes, permettant une analyse détaillée et flexible.</a:t>
            </a:r>
          </a:p>
          <a:p>
            <a:r>
              <a:rPr lang="fr-FR" dirty="0"/>
              <a:t>Caractéristiques principales :</a:t>
            </a:r>
          </a:p>
          <a:p>
            <a:pPr lvl="1"/>
            <a:r>
              <a:rPr lang="fr-FR" dirty="0"/>
              <a:t>Généralement de taille </a:t>
            </a:r>
            <a:r>
              <a:rPr lang="fr-FR" b="1" dirty="0"/>
              <a:t>plus</a:t>
            </a:r>
            <a:r>
              <a:rPr lang="fr-FR" dirty="0"/>
              <a:t> </a:t>
            </a:r>
            <a:r>
              <a:rPr lang="fr-FR" b="1" dirty="0"/>
              <a:t>petite</a:t>
            </a:r>
            <a:r>
              <a:rPr lang="fr-FR" dirty="0"/>
              <a:t> par rapport aux tables de faits, avec des lignes allant de centaines à quelques milliers.</a:t>
            </a:r>
          </a:p>
          <a:p>
            <a:pPr lvl="1"/>
            <a:r>
              <a:rPr lang="fr-FR" dirty="0"/>
              <a:t>Prise en charge des </a:t>
            </a:r>
            <a:r>
              <a:rPr lang="fr-FR" b="1" dirty="0"/>
              <a:t>hiérarchies</a:t>
            </a:r>
            <a:r>
              <a:rPr lang="fr-FR" dirty="0"/>
              <a:t> (par exemple, Ville → Pays, Jour → Mois → Année) pour faciliter l'analyse globale et détaillée.</a:t>
            </a:r>
          </a:p>
          <a:p>
            <a:pPr lvl="1"/>
            <a:r>
              <a:rPr lang="fr-FR" b="1" dirty="0" err="1"/>
              <a:t>Surrogate</a:t>
            </a:r>
            <a:r>
              <a:rPr lang="fr-FR" b="1" dirty="0"/>
              <a:t> Keys (Clés de substitution)</a:t>
            </a:r>
            <a:r>
              <a:rPr lang="fr-FR" dirty="0"/>
              <a:t> : Un entier (1, 2, 3...) généré par le DWH.</a:t>
            </a:r>
          </a:p>
          <a:p>
            <a:pPr lvl="2"/>
            <a:r>
              <a:rPr lang="fr-FR" dirty="0"/>
              <a:t>Pourquoi ? Pour gérer les doublons et permettre l'historisation (SCD).</a:t>
            </a:r>
            <a:endParaRPr lang="en-GB" dirty="0"/>
          </a:p>
          <a:p>
            <a:pPr lvl="1"/>
            <a:endParaRPr lang="fr-FR" dirty="0"/>
          </a:p>
          <a:p>
            <a:endParaRPr lang="fr-FR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37759-736D-4304-6F35-1C8DB79B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34BB3-0003-A9E5-B2B3-86D6D727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14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F50F00-6D09-63DC-DDC0-8E8472DBB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159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05B11-BCFC-3C14-E4C3-69E6BB5C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dirty="0"/>
              <a:t>Types de schémas d'entrepôt de données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986D-611E-C0BA-E7A1-615B244A1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un entrepôt de données, un schéma est une représentation logique de l'ensemble de la base de données. </a:t>
            </a:r>
          </a:p>
          <a:p>
            <a:r>
              <a:rPr lang="fr-FR" dirty="0"/>
              <a:t>Il définit la structure et l'organisation des données, décrivant leur stockage, leur connexion et leur accès. </a:t>
            </a:r>
          </a:p>
          <a:p>
            <a:r>
              <a:rPr lang="fr-FR" dirty="0"/>
              <a:t>Les schémas jouent un rôle essentiel dans l'intégration des données, la minimisation de la redondance et l'amélioration des performances des requêtes.</a:t>
            </a:r>
          </a:p>
          <a:p>
            <a:r>
              <a:rPr lang="fr-FR" dirty="0"/>
              <a:t>Principaux types de schémas d'entrepôt de données :</a:t>
            </a:r>
          </a:p>
          <a:p>
            <a:pPr lvl="1"/>
            <a:r>
              <a:rPr lang="fr-FR" b="1" dirty="0"/>
              <a:t>Schéma en étoile</a:t>
            </a:r>
          </a:p>
          <a:p>
            <a:pPr lvl="1"/>
            <a:r>
              <a:rPr lang="fr-FR" b="1" dirty="0"/>
              <a:t>Schéma du flocon de neige</a:t>
            </a:r>
          </a:p>
          <a:p>
            <a:pPr lvl="1"/>
            <a:r>
              <a:rPr lang="fr-FR" dirty="0"/>
              <a:t>Schéma de constellation des faits (schéma de la galaxie)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9E4C-68C5-2B5B-AB07-66D9534A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57B2E-064D-7BA2-D569-DC926751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15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BB676C-B474-4B0E-276C-23EAB7191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1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FCDB-93E0-7BF8-447A-0DADAC66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654"/>
            <a:ext cx="10515600" cy="1180034"/>
          </a:xfrm>
        </p:spPr>
        <p:txBody>
          <a:bodyPr anchor="ctr">
            <a:normAutofit/>
          </a:bodyPr>
          <a:lstStyle/>
          <a:p>
            <a:br>
              <a:rPr lang="en-GB" sz="2500"/>
            </a:br>
            <a:r>
              <a:rPr lang="en-GB" sz="2500" err="1"/>
              <a:t>Schéma</a:t>
            </a:r>
            <a:r>
              <a:rPr lang="en-GB" sz="2500"/>
              <a:t> </a:t>
            </a:r>
            <a:r>
              <a:rPr lang="en-GB" sz="2500" err="1"/>
              <a:t>en</a:t>
            </a:r>
            <a:r>
              <a:rPr lang="en-GB" sz="2500"/>
              <a:t> étoile</a:t>
            </a:r>
            <a:br>
              <a:rPr lang="en-GB" sz="2500"/>
            </a:br>
            <a:endParaRPr lang="en-GB" sz="2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6A69-5C53-5AB8-F88C-7A229B6A2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r>
              <a:rPr lang="fr-FR" sz="1700"/>
              <a:t>Le schéma en étoile est le type de schéma d'entrepôt de données le plus simple.</a:t>
            </a:r>
          </a:p>
          <a:p>
            <a:r>
              <a:rPr lang="fr-FR" sz="1700"/>
              <a:t>Il comprend une table de faits centrale reliée à plusieurs tables de dimensions. </a:t>
            </a:r>
          </a:p>
          <a:p>
            <a:r>
              <a:rPr lang="fr-FR" sz="1700"/>
              <a:t>La table de faits stocke des données quantitatives sur les activités de l'entreprise, tandis que les tables de dimensions fournissent des détails descriptifs.</a:t>
            </a:r>
          </a:p>
          <a:p>
            <a:r>
              <a:rPr lang="fr-FR" sz="1700" b="1"/>
              <a:t>Table de faits </a:t>
            </a:r>
            <a:r>
              <a:rPr lang="fr-FR" sz="1700"/>
              <a:t>: contient des mesures numériques (par exemple, le montant des ventes, la quantité vendue) ainsi que des clés étrangères qui se connectent aux tables de dimensions.</a:t>
            </a:r>
          </a:p>
          <a:p>
            <a:r>
              <a:rPr lang="fr-FR" sz="1700" b="1"/>
              <a:t>Tables de dimensions </a:t>
            </a:r>
            <a:r>
              <a:rPr lang="fr-FR" sz="1700"/>
              <a:t>: contiennent des informations descriptives, telles que les noms des clients, les dates ou les catégories de produits.</a:t>
            </a:r>
          </a:p>
          <a:p>
            <a:endParaRPr lang="en-GB" sz="17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1FE6-4A55-13EE-2958-3B83DB5E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A5C26B-0F4F-4E92-A5AB-A06A7E8865CA}" type="datetimeyyyy">
              <a:rPr lang="fr-FR" smtClean="0"/>
              <a:pPr>
                <a:spcAft>
                  <a:spcPts val="600"/>
                </a:spcAft>
              </a:pPr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69C93-C8B9-5F85-90D5-E5B0F972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13F4F7-518B-459F-9B80-EE04630AFE87}" type="slidenum">
              <a:rPr lang="fr-FR" smtClean="0"/>
              <a:pPr>
                <a:spcAft>
                  <a:spcPts val="600"/>
                </a:spcAft>
              </a:pPr>
              <a:t>16</a:t>
            </a:fld>
            <a:endParaRPr lang="fr-FR"/>
          </a:p>
        </p:txBody>
      </p:sp>
      <p:pic>
        <p:nvPicPr>
          <p:cNvPr id="7" name="Image 3" descr="A diagram of fact table&#10;&#10;AI-generated content may be incorrect.">
            <a:extLst>
              <a:ext uri="{FF2B5EF4-FFF2-40B4-BE49-F238E27FC236}">
                <a16:creationId xmlns:a16="http://schemas.microsoft.com/office/drawing/2014/main" id="{40676F75-F6F0-436E-9154-4B5423C5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333076"/>
            <a:ext cx="5162550" cy="33364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427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709E-DB42-3828-7986-CA10817B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654"/>
            <a:ext cx="10515600" cy="1180034"/>
          </a:xfrm>
        </p:spPr>
        <p:txBody>
          <a:bodyPr anchor="ctr">
            <a:normAutofit/>
          </a:bodyPr>
          <a:lstStyle/>
          <a:p>
            <a:r>
              <a:rPr lang="fr-FR" dirty="0"/>
              <a:t>Schéma du flocon de neige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734A-2A0E-D364-0788-604189E9B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fr-FR" sz="2200"/>
              <a:t>Le schéma en flocon est une variante plus complexe du schéma en étoile.</a:t>
            </a:r>
          </a:p>
          <a:p>
            <a:r>
              <a:rPr lang="fr-FR" sz="2200"/>
              <a:t> Dans ce modèle, les tables de dimension sont normalisées, c'est-à-dire divisées en plusieurs tables liées afin de minimiser la redondance des données.</a:t>
            </a:r>
          </a:p>
          <a:p>
            <a:r>
              <a:rPr lang="fr-FR" sz="2200" b="1"/>
              <a:t>Tables de dimensions normalisées </a:t>
            </a:r>
            <a:r>
              <a:rPr lang="fr-FR" sz="2200"/>
              <a:t>: les données de dimension sont divisées en tables plus petites et liées.</a:t>
            </a:r>
          </a:p>
          <a:p>
            <a:r>
              <a:rPr lang="fr-FR" sz="2200" b="1"/>
              <a:t>Table de faits </a:t>
            </a:r>
            <a:r>
              <a:rPr lang="fr-FR" sz="2200"/>
              <a:t>: Reste la table centrale, connectée à plusieurs tables de dimensions.</a:t>
            </a:r>
          </a:p>
          <a:p>
            <a:endParaRPr lang="en-GB" sz="2200"/>
          </a:p>
        </p:txBody>
      </p:sp>
      <p:pic>
        <p:nvPicPr>
          <p:cNvPr id="7" name="Image 3" descr="A diagram of a fact table&#10;&#10;AI-generated content may be incorrect.">
            <a:extLst>
              <a:ext uri="{FF2B5EF4-FFF2-40B4-BE49-F238E27FC236}">
                <a16:creationId xmlns:a16="http://schemas.microsoft.com/office/drawing/2014/main" id="{05F344D1-D880-BD4E-6C90-D3A1E9222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40337"/>
            <a:ext cx="5181600" cy="3121913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0E375-BFFB-5954-AFC6-A0F45D7A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A5C26B-0F4F-4E92-A5AB-A06A7E8865CA}" type="datetimeyyyy">
              <a:rPr lang="fr-FR" smtClean="0"/>
              <a:pPr>
                <a:spcAft>
                  <a:spcPts val="600"/>
                </a:spcAft>
              </a:pPr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E3E8C-364A-D2F5-5CC8-262E46F4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913F4F7-518B-459F-9B80-EE04630AFE87}" type="slidenum">
              <a:rPr lang="fr-FR" smtClean="0"/>
              <a:pPr>
                <a:spcAft>
                  <a:spcPts val="600"/>
                </a:spcAft>
              </a:pPr>
              <a:t>17</a:t>
            </a:fld>
            <a:endParaRPr lang="fr-FR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630BCE2-6838-8677-EF68-ED83AB0E0C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2784" y="6352660"/>
            <a:ext cx="4114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6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E868-E257-9F24-FFF0-C8DCCAE8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B434DE-2182-53C8-14F1-731E077B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FE1E11-E1F7-27A5-C8FC-CCE4D3995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18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C52B534-5D5E-C5B5-C1B6-74150BD742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" dirty="0"/>
              <a:t>Titre du cours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D7F5523-B30B-1C3D-6E4E-69F7B7CE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690030"/>
            <a:ext cx="10502900" cy="2808823"/>
          </a:xfrm>
        </p:spPr>
        <p:txBody>
          <a:bodyPr/>
          <a:lstStyle/>
          <a:p>
            <a:pPr algn="ctr">
              <a:lnSpc>
                <a:spcPct val="130000"/>
              </a:lnSpc>
            </a:pPr>
            <a:r>
              <a:rPr lang="fr" dirty="0"/>
              <a:t>Slowly Changing Demensions SCD</a:t>
            </a:r>
          </a:p>
        </p:txBody>
      </p:sp>
    </p:spTree>
    <p:extLst>
      <p:ext uri="{BB962C8B-B14F-4D97-AF65-F5344CB8AC3E}">
        <p14:creationId xmlns:p14="http://schemas.microsoft.com/office/powerpoint/2010/main" val="2768816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FE2F-C28B-DE0B-57C9-FE5A5CBB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dimensions à évolution lente (SCD)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59BE-E04C-71DA-FF41-62B22FEC7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Les dimensions à évolution lente (SCD</a:t>
            </a:r>
            <a:r>
              <a:rPr lang="fr-FR" dirty="0"/>
              <a:t>) traitent de la manière dont les modifications des données de dimension (par exemple, produit, client, emplacement) sont suivies au fil du temps dans un entrepôt de données.</a:t>
            </a:r>
          </a:p>
          <a:p>
            <a:r>
              <a:rPr lang="fr-FR" dirty="0"/>
              <a:t>Les entités conservent la même clé (comme l'ID du produit) mais leurs attributs évoluent (nom, prix, fonctionnalités).</a:t>
            </a:r>
          </a:p>
          <a:p>
            <a:r>
              <a:rPr lang="fr-FR" dirty="0"/>
              <a:t>La stratégie de modélisation choisie affecte la fiabilité des métriques : </a:t>
            </a:r>
          </a:p>
          <a:p>
            <a:pPr lvl="1"/>
            <a:r>
              <a:rPr lang="fr-FR" dirty="0"/>
              <a:t>une bonne conception = des informations précises, </a:t>
            </a:r>
          </a:p>
          <a:p>
            <a:pPr lvl="1"/>
            <a:r>
              <a:rPr lang="fr-FR" dirty="0"/>
              <a:t>une mauvaise conception = des résultats trompeurs.</a:t>
            </a:r>
          </a:p>
          <a:p>
            <a:r>
              <a:rPr lang="fr-FR" dirty="0"/>
              <a:t>Exemple : si les mises à jour du produit ne sont pas historisées, il est impossible de savoir quelle version a amélioré ou diminué les performances.</a:t>
            </a:r>
          </a:p>
          <a:p>
            <a:r>
              <a:rPr lang="fr-FR" dirty="0"/>
              <a:t>Les SCD fournissent le contexte </a:t>
            </a:r>
            <a:r>
              <a:rPr lang="fr-FR" b="1" dirty="0"/>
              <a:t>historique</a:t>
            </a:r>
            <a:r>
              <a:rPr lang="fr-FR" dirty="0"/>
              <a:t> nécessaire pour relier les changements au fil du temps aux résultats commerciaux.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B7E2-F093-AFE8-9FC7-EE16737E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D1030-A61B-2464-3078-DFBA8013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19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3A4E8D-10F3-E6D7-5D7C-6B1D67CDA4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117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5B9F-4A1E-C33D-7351-D8E97D94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Principales caractéristiques des SCD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36F8-44DF-C5D0-DEDC-92583A7F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noProof="0" dirty="0"/>
              <a:t>Historique Suivi </a:t>
            </a:r>
            <a:r>
              <a:rPr lang="fr-FR" noProof="0" dirty="0"/>
              <a:t>: Gérer les modifications d'attributs au fil du temps. Certains types conservent valeurs et dates passées , tandis que autres écraser les données.</a:t>
            </a:r>
          </a:p>
          <a:p>
            <a:r>
              <a:rPr lang="fr-FR" b="1" noProof="0" dirty="0"/>
              <a:t>Clés naturelles </a:t>
            </a:r>
            <a:r>
              <a:rPr lang="fr-FR" noProof="0" dirty="0"/>
              <a:t>: chacune entité est lié à un identifiant stable et unique (par exemple, l'ID du produit ).</a:t>
            </a:r>
          </a:p>
          <a:p>
            <a:r>
              <a:rPr lang="fr-FR" b="1" noProof="0" dirty="0"/>
              <a:t>Versioning</a:t>
            </a:r>
            <a:r>
              <a:rPr lang="fr-FR" noProof="0" dirty="0"/>
              <a:t> : les modifications sont suivies avec métadonnées tels que les dates de début/fin, les numéros de version ou les indicateurs d'état .</a:t>
            </a:r>
          </a:p>
          <a:p>
            <a:r>
              <a:rPr lang="fr-FR" b="1" noProof="0" dirty="0"/>
              <a:t>Analyse des tendances </a:t>
            </a:r>
            <a:r>
              <a:rPr lang="fr-FR" noProof="0" dirty="0"/>
              <a:t>: les données historiques permettent de mesurer les performances et d’identifier les tendances au fil du temps.</a:t>
            </a:r>
          </a:p>
          <a:p>
            <a:endParaRPr lang="fr-FR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1A655-C9D5-A428-B355-C035BB14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noProof="0" smtClean="0"/>
              <a:t>2026</a:t>
            </a:fld>
            <a:endParaRPr lang="fr-FR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F158D-D7BC-A42C-FB10-B96334C1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noProof="0" smtClean="0"/>
              <a:t>20</a:t>
            </a:fld>
            <a:endParaRPr lang="fr-FR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9955A7-F44A-08B0-45E8-C6853A1BE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4550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44E3-9BFD-346B-34FE-2612AE12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dimensions à évolution lente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EE446-175B-C3C1-5196-D88D8A24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Lorsque les données dimensionnelles évoluent au fil du temps, les dimensions à évolution lente (SCD) offrent différentes stratégies pour gérer ces changements.</a:t>
            </a:r>
          </a:p>
          <a:p>
            <a:r>
              <a:rPr lang="fr-FR" dirty="0"/>
              <a:t> Chaque type offre un compromis entre simplicité, stockage et précision historique. Voici les types de SCD les plus courants et leurs cas d'utilisation typiques :</a:t>
            </a:r>
          </a:p>
          <a:p>
            <a:pPr lvl="1"/>
            <a:r>
              <a:rPr lang="fr" b="1" dirty="0"/>
              <a:t>Type 0</a:t>
            </a:r>
            <a:r>
              <a:rPr lang="fr" dirty="0"/>
              <a:t> : Attributs fixes</a:t>
            </a:r>
          </a:p>
          <a:p>
            <a:pPr lvl="1"/>
            <a:r>
              <a:rPr lang="fr" b="1" dirty="0"/>
              <a:t>Type 1</a:t>
            </a:r>
            <a:r>
              <a:rPr lang="fr" dirty="0"/>
              <a:t> : Écraser les anciennes valeurs</a:t>
            </a:r>
          </a:p>
          <a:p>
            <a:pPr lvl="1"/>
            <a:r>
              <a:rPr lang="fr" b="1" dirty="0"/>
              <a:t>Type 2</a:t>
            </a:r>
            <a:r>
              <a:rPr lang="fr" dirty="0"/>
              <a:t> : Historique complet avec nouvelles lignes</a:t>
            </a:r>
          </a:p>
          <a:p>
            <a:pPr lvl="1"/>
            <a:r>
              <a:rPr lang="fr" b="1" dirty="0"/>
              <a:t>Type 3</a:t>
            </a:r>
            <a:r>
              <a:rPr lang="fr" dirty="0"/>
              <a:t> : Historique limité avec colonnes supplémentaires</a:t>
            </a:r>
          </a:p>
          <a:p>
            <a:pPr lvl="1"/>
            <a:r>
              <a:rPr lang="fr-FR" b="1" dirty="0"/>
              <a:t>Type 4</a:t>
            </a:r>
            <a:r>
              <a:rPr lang="fr-FR" dirty="0"/>
              <a:t> : Tableau d'historique séparé</a:t>
            </a:r>
            <a:endParaRPr lang="fr" dirty="0"/>
          </a:p>
          <a:p>
            <a:endParaRPr lang="fr-FR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66081-D28F-BA63-F23B-1B168E8A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552AB-E316-3EB5-EA11-59BAE9CB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21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70709F-678E-A112-B8A1-1A23DC444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904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0D53-106F-592C-8B94-05B71401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0 (L'Immuabilité)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46F7-60C7-BC84-3112-F91DFE7F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71629" cy="4351338"/>
          </a:xfrm>
        </p:spPr>
        <p:txBody>
          <a:bodyPr/>
          <a:lstStyle/>
          <a:p>
            <a:r>
              <a:rPr lang="fr-FR" dirty="0"/>
              <a:t>La valeur d'origine est considérée comme définitive et ne doit jamais être modifiée.</a:t>
            </a:r>
          </a:p>
          <a:p>
            <a:r>
              <a:rPr lang="fr-FR" dirty="0"/>
              <a:t>Si une donnée change dans le système source (ex: un ID Client), on refuse la mise à jour dans le Data Warehouse.</a:t>
            </a:r>
          </a:p>
          <a:p>
            <a:r>
              <a:rPr lang="fr-FR" dirty="0"/>
              <a:t>Un changement sur ce type de donnée est souvent le signe d'une </a:t>
            </a:r>
            <a:r>
              <a:rPr lang="fr-FR" b="1" dirty="0"/>
              <a:t>erreur</a:t>
            </a:r>
            <a:r>
              <a:rPr lang="fr-FR" dirty="0"/>
              <a:t> ou d'une </a:t>
            </a:r>
            <a:r>
              <a:rPr lang="fr-FR" b="1" dirty="0"/>
              <a:t>anomalie</a:t>
            </a:r>
            <a:r>
              <a:rPr lang="fr-FR" dirty="0"/>
              <a:t> dans le système source qui doit être investiguée.</a:t>
            </a:r>
          </a:p>
          <a:p>
            <a:r>
              <a:rPr lang="fr-FR" dirty="0"/>
              <a:t>C'est le type le plus simple à gérer. Aucune action requise dans le processus ETL, on ignore simplement les modifications.</a:t>
            </a:r>
          </a:p>
          <a:p>
            <a:r>
              <a:rPr lang="fr-FR" b="1" dirty="0"/>
              <a:t>Objectif</a:t>
            </a:r>
            <a:r>
              <a:rPr lang="fr-FR" dirty="0"/>
              <a:t> : Garantir la stabilité et la Qualité du référentiel pour des données qui, par nature, ne devraient pas évoluer.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2A14A-4378-2041-1BED-6791FA6C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425E1-89A7-D511-53D4-5DB6409B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22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73C6A-DB57-3C8A-4B99-2781C20E07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247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68CE-033A-9263-AB8F-F1F27FAF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0 (L'Immuabilité)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10654-AEE1-28F0-E9EF-1E81FFD4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C6C6E-D976-6C2F-AEE9-12928F06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23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754D6F-0BEB-4188-8779-798C9BC237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30CE8D-25AC-EF8B-EA39-43AE8AC7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42864"/>
              </p:ext>
            </p:extLst>
          </p:nvPr>
        </p:nvGraphicFramePr>
        <p:xfrm>
          <a:off x="810933" y="2665650"/>
          <a:ext cx="4819278" cy="11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310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2306172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</a:tblGrid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Harry Payne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80FE3D-67C5-F353-F597-D5C009B7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118138"/>
              </p:ext>
            </p:extLst>
          </p:nvPr>
        </p:nvGraphicFramePr>
        <p:xfrm>
          <a:off x="6745566" y="4598894"/>
          <a:ext cx="4819278" cy="113916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1310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2306172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</a:tblGrid>
              <a:tr h="567785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Harry Payne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0F2A171C-F7AB-B430-E841-37612A0363B6}"/>
              </a:ext>
            </a:extLst>
          </p:cNvPr>
          <p:cNvSpPr/>
          <p:nvPr/>
        </p:nvSpPr>
        <p:spPr>
          <a:xfrm>
            <a:off x="5819366" y="2225490"/>
            <a:ext cx="2548218" cy="217483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01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A657-6ABB-08CE-1F16-09441ED5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1 : Mise à jour de l'original (Écrasement)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7B946-F9A4-8363-6885-2112F9A2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accepte le changement de la donnée, mais on ne conserve aucune trace du passé.</a:t>
            </a:r>
          </a:p>
          <a:p>
            <a:pPr lvl="1"/>
            <a:r>
              <a:rPr lang="fr-FR" dirty="0"/>
              <a:t>Exemple : Le nom d'un client change (ex: correction d'une faute de frappe). Comme l'ancien nom n'a aucune valeur pour l'analyse, seule la version la plus récente compte.</a:t>
            </a:r>
          </a:p>
          <a:p>
            <a:r>
              <a:rPr lang="fr-FR" dirty="0"/>
              <a:t>Le processus ETL effectue une simple commande </a:t>
            </a:r>
            <a:r>
              <a:rPr lang="fr-FR" b="1" dirty="0"/>
              <a:t>UPDATE</a:t>
            </a:r>
            <a:r>
              <a:rPr lang="fr-FR" dirty="0"/>
              <a:t> sur l'enregistrement existant dans la table de dimension.</a:t>
            </a:r>
          </a:p>
          <a:p>
            <a:r>
              <a:rPr lang="fr-FR" dirty="0"/>
              <a:t>Alternativement, le processus peut consister à supprimer l'ancien enregistrement (</a:t>
            </a:r>
            <a:r>
              <a:rPr lang="fr-FR" b="1" dirty="0"/>
              <a:t>DELETE</a:t>
            </a:r>
            <a:r>
              <a:rPr lang="fr-FR" dirty="0"/>
              <a:t>) puis à insérer le nouveau (</a:t>
            </a:r>
            <a:r>
              <a:rPr lang="fr-FR" b="1" dirty="0"/>
              <a:t>INSERT</a:t>
            </a:r>
            <a:r>
              <a:rPr lang="fr-FR" dirty="0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2414C-7C16-B98D-63ED-ED157BDD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2E575-8F6A-5A9F-9105-CFFEA7D7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24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44C76-02FD-EE56-E1D7-6D755B7DDB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308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F594-F4F5-4170-7144-ED279DBF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1 : Mise à jour de l'original (Écrasement)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720D-D9B1-6062-63B7-552D3FC0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outils ETL gèrent cela automatiquement en vidant la table de dimension pour la recharger entièrement (option "</a:t>
            </a:r>
            <a:r>
              <a:rPr lang="fr-FR" b="1" dirty="0"/>
              <a:t>Replace</a:t>
            </a:r>
            <a:r>
              <a:rPr lang="fr-FR" dirty="0"/>
              <a:t>").</a:t>
            </a:r>
          </a:p>
          <a:p>
            <a:r>
              <a:rPr lang="fr-FR" dirty="0"/>
              <a:t>Pour les bases de données, cela se traduit souvent par une commande </a:t>
            </a:r>
            <a:r>
              <a:rPr lang="fr-FR" b="1" dirty="0"/>
              <a:t>SQL UPDATE </a:t>
            </a:r>
            <a:r>
              <a:rPr lang="fr-FR" dirty="0"/>
              <a:t>classique.</a:t>
            </a:r>
          </a:p>
          <a:p>
            <a:r>
              <a:rPr lang="fr-FR" b="1" dirty="0"/>
              <a:t>Avantage</a:t>
            </a:r>
            <a:r>
              <a:rPr lang="fr-FR" dirty="0"/>
              <a:t> : C'est un processus très simple à mettre en place qui ne nécessite pas de modifier la structure de la table.</a:t>
            </a:r>
          </a:p>
          <a:p>
            <a:r>
              <a:rPr lang="fr-FR" b="1" dirty="0"/>
              <a:t>Inconvénient</a:t>
            </a:r>
            <a:r>
              <a:rPr lang="fr-FR" dirty="0"/>
              <a:t> : On perd définitivement l'historique des données, ce qui rend impossible l'analyse de l'évolution dans le temps.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ACA2-0137-B27B-7467-E5F738D6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13833-A216-C30A-BC1A-F49ADC6F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25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D3BC48-9ABC-A051-3CDD-8DDA8049B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788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0021-47D7-B5AC-C7C8-E87CCD14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1 : Mise à jour de l'original (Écrasement)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08EDB-1CC9-90CA-CAD9-BF081CF5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C465C-93C6-4BFB-66D7-33BCAE6E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26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6C454A-25E3-869F-33A0-8B693137C4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40E5E3-D598-7AB4-CBB1-7753F36C9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754396"/>
              </p:ext>
            </p:extLst>
          </p:nvPr>
        </p:nvGraphicFramePr>
        <p:xfrm>
          <a:off x="1171761" y="2375923"/>
          <a:ext cx="4819278" cy="11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310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2306172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</a:tblGrid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EB3355-A294-F60E-4D74-5790FDCB3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5706"/>
              </p:ext>
            </p:extLst>
          </p:nvPr>
        </p:nvGraphicFramePr>
        <p:xfrm>
          <a:off x="6200961" y="4756019"/>
          <a:ext cx="4819278" cy="113916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1310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2306172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</a:tblGrid>
              <a:tr h="567785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571376">
                <a:tc>
                  <a:txBody>
                    <a:bodyPr/>
                    <a:lstStyle/>
                    <a:p>
                      <a:r>
                        <a:rPr lang="en-GB" dirty="0"/>
                        <a:t>10003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Justin Tomlinson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A9C68FFF-EB07-F76A-61C4-B999E11F8546}"/>
              </a:ext>
            </a:extLst>
          </p:cNvPr>
          <p:cNvSpPr/>
          <p:nvPr/>
        </p:nvSpPr>
        <p:spPr>
          <a:xfrm>
            <a:off x="7430584" y="2226099"/>
            <a:ext cx="1666351" cy="1038060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4C58A94A-E1C9-745D-4541-350CFC764BDE}"/>
              </a:ext>
            </a:extLst>
          </p:cNvPr>
          <p:cNvSpPr/>
          <p:nvPr/>
        </p:nvSpPr>
        <p:spPr>
          <a:xfrm rot="11295392">
            <a:off x="7295585" y="3369441"/>
            <a:ext cx="1613867" cy="1017995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395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AEC1-B3E8-8C0C-4021-2E3821F3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2 : Conservation de l'historique complet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5C326-77E9-147B-AE07-AA92AE9C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accepte le changement tout en préservant l'intégralité des valeurs passées.</a:t>
            </a:r>
          </a:p>
          <a:p>
            <a:pPr lvl="1"/>
            <a:r>
              <a:rPr lang="fr-FR" dirty="0"/>
              <a:t>Exemple : Un client déménage de New York à Londres. Ses anciens achats doivent rester rattachés à New York, et les nouveaux à Londres.</a:t>
            </a:r>
          </a:p>
          <a:p>
            <a:r>
              <a:rPr lang="fr-FR" dirty="0"/>
              <a:t>Pour fonctionner, ce modèle nécessite des modifications structurelles :</a:t>
            </a:r>
          </a:p>
          <a:p>
            <a:pPr lvl="1"/>
            <a:r>
              <a:rPr lang="fr-FR" dirty="0" err="1"/>
              <a:t>Surrogate</a:t>
            </a:r>
            <a:r>
              <a:rPr lang="fr-FR" dirty="0"/>
              <a:t> Key (Clé de substitution) : Obligatoire pour différencier les deux lignes d'un même client (l'ID source restant identique).</a:t>
            </a:r>
          </a:p>
          <a:p>
            <a:pPr lvl="1"/>
            <a:r>
              <a:rPr lang="fr-FR" dirty="0"/>
              <a:t>Colonnes de dates : Ajout de </a:t>
            </a:r>
            <a:r>
              <a:rPr lang="fr-FR" dirty="0" err="1"/>
              <a:t>FromDate</a:t>
            </a:r>
            <a:r>
              <a:rPr lang="fr-FR" dirty="0"/>
              <a:t> (Date de début) et </a:t>
            </a:r>
            <a:r>
              <a:rPr lang="fr-FR" dirty="0" err="1"/>
              <a:t>ToDate</a:t>
            </a:r>
            <a:r>
              <a:rPr lang="fr-FR" dirty="0"/>
              <a:t> (Date de fin) pour définir la période de validité de chaque info.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499FA-9DD1-FBDE-2ECF-20007BC6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4C175-0FCD-29AF-7C17-AC6CDCC9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27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A93E61-7FB3-7B3A-76A3-87CC269F0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324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AFD8-1B58-E480-7898-DC8829BB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2 : Conservation de l'historique complet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84CA0-C3FB-B96E-81BB-98CC5DCF4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Le processus ETL (UPSERT) :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UPDATE</a:t>
            </a:r>
            <a:r>
              <a:rPr lang="fr-FR" dirty="0"/>
              <a:t> : On met à jour la </a:t>
            </a:r>
            <a:r>
              <a:rPr lang="fr-FR" dirty="0" err="1"/>
              <a:t>ToDate</a:t>
            </a:r>
            <a:r>
              <a:rPr lang="fr-FR" dirty="0"/>
              <a:t> de l'ancien enregistrement (qui devient historique) avec la date du jour.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INSERT</a:t>
            </a:r>
            <a:r>
              <a:rPr lang="fr-FR" dirty="0"/>
              <a:t> : On insère une nouvelle ligne avec les nouvelles informations, une </a:t>
            </a:r>
            <a:r>
              <a:rPr lang="fr-FR" dirty="0" err="1"/>
              <a:t>FromDate</a:t>
            </a:r>
            <a:r>
              <a:rPr lang="fr-FR" dirty="0"/>
              <a:t> à aujourd'hui et une </a:t>
            </a:r>
            <a:r>
              <a:rPr lang="fr-FR" dirty="0" err="1"/>
              <a:t>ToDate</a:t>
            </a:r>
            <a:r>
              <a:rPr lang="fr-FR" dirty="0"/>
              <a:t> vide (ou nulle) pour indiquer qu'elle est active.</a:t>
            </a:r>
          </a:p>
          <a:p>
            <a:pPr>
              <a:lnSpc>
                <a:spcPct val="150000"/>
              </a:lnSpc>
            </a:pPr>
            <a:r>
              <a:rPr lang="fr-FR" b="1" dirty="0"/>
              <a:t>Objectif</a:t>
            </a:r>
            <a:r>
              <a:rPr lang="fr-FR" dirty="0"/>
              <a:t> : Garantir une analyse précise en liant les faits au contexte exact de l'époque où ils se sont produits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882D-A868-596D-473F-6ACDB53D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F73B2-24AF-14EA-7DC6-0C92B63F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28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A75B16-83F8-CE7C-BDEB-BB317EC33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707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D0B3-A8A0-72C7-7F2E-82AE6F92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2 : Conservation de l'historique complet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43D04-306E-AB0B-7881-C83D4E3E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12CC8-57C3-EE26-A472-B74CE884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29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5FFDF4-61E4-7AEF-C78D-44CC0E449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9023C9-0A44-FB4B-7BF1-A7CCF3B20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87300"/>
              </p:ext>
            </p:extLst>
          </p:nvPr>
        </p:nvGraphicFramePr>
        <p:xfrm>
          <a:off x="1048496" y="1996613"/>
          <a:ext cx="9700184" cy="7522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0600">
                  <a:extLst>
                    <a:ext uri="{9D8B030D-6E8A-4147-A177-3AD203B41FA5}">
                      <a16:colId xmlns:a16="http://schemas.microsoft.com/office/drawing/2014/main" val="2208956405"/>
                    </a:ext>
                  </a:extLst>
                </a:gridCol>
                <a:gridCol w="171060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4217655026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605830922"/>
                    </a:ext>
                  </a:extLst>
                </a:gridCol>
              </a:tblGrid>
              <a:tr h="386498">
                <a:tc>
                  <a:txBody>
                    <a:bodyPr/>
                    <a:lstStyle/>
                    <a:p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FromDate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3921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12/03/2026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280B8E-CAC1-8872-D0A2-982FBBF74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62311"/>
              </p:ext>
            </p:extLst>
          </p:nvPr>
        </p:nvGraphicFramePr>
        <p:xfrm>
          <a:off x="1048496" y="4914681"/>
          <a:ext cx="9700184" cy="11279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10600">
                  <a:extLst>
                    <a:ext uri="{9D8B030D-6E8A-4147-A177-3AD203B41FA5}">
                      <a16:colId xmlns:a16="http://schemas.microsoft.com/office/drawing/2014/main" val="3955271539"/>
                    </a:ext>
                  </a:extLst>
                </a:gridCol>
                <a:gridCol w="171060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4217655026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605830922"/>
                    </a:ext>
                  </a:extLst>
                </a:gridCol>
              </a:tblGrid>
              <a:tr h="3964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FromDate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ToDate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63071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12/03/2026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15/01/2027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  <a:tr h="29987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16/01/2027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5642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3FE825-EB6E-5DE3-EB22-3F563D778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124779"/>
              </p:ext>
            </p:extLst>
          </p:nvPr>
        </p:nvGraphicFramePr>
        <p:xfrm>
          <a:off x="3428437" y="3455330"/>
          <a:ext cx="481927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732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59773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59773">
                  <a:extLst>
                    <a:ext uri="{9D8B030D-6E8A-4147-A177-3AD203B41FA5}">
                      <a16:colId xmlns:a16="http://schemas.microsoft.com/office/drawing/2014/main" val="3284563632"/>
                    </a:ext>
                  </a:extLst>
                </a:gridCol>
              </a:tblGrid>
              <a:tr h="349624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42725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500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711C-6745-D572-AD8E-5D231E4B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3 : Conservation d'un historique limité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8651-7EAC-E1BC-BFD0-D9F9BEE9D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On souhaite conserver une trace du changement, mais uniquement pour un nombre limité de versions (généralement la valeur actuelle et la précédente).</a:t>
            </a:r>
          </a:p>
          <a:p>
            <a:pPr lvl="1"/>
            <a:r>
              <a:rPr lang="fr-FR" dirty="0"/>
              <a:t>Exemple : Vous voulez suivre l'intitulé de poste actuel d'un client et son intitulé juste avant celui-ci. Les changements plus anciens ne sont pas jugés utiles pour l'analyse.</a:t>
            </a:r>
          </a:p>
          <a:p>
            <a:r>
              <a:rPr lang="fr-FR" dirty="0"/>
              <a:t>On ajoute deux colonnes spécifiques pour chaque attribut concerné :</a:t>
            </a:r>
          </a:p>
          <a:p>
            <a:pPr lvl="1"/>
            <a:r>
              <a:rPr lang="fr-FR" dirty="0"/>
              <a:t>Une colonne pour la valeur précédente (</a:t>
            </a:r>
            <a:r>
              <a:rPr lang="fr-FR" dirty="0" err="1"/>
              <a:t>Previous</a:t>
            </a:r>
            <a:r>
              <a:rPr lang="fr-FR" dirty="0"/>
              <a:t> Value).</a:t>
            </a:r>
          </a:p>
          <a:p>
            <a:pPr lvl="1"/>
            <a:r>
              <a:rPr lang="fr-FR" dirty="0"/>
              <a:t>Une colonne pour la date d'effet du dernier changement (Effective Date).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18E4-B731-CA02-1956-5D996D0E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1E555-C347-EB6C-7779-D8DFD68B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30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AFDE86-C3B1-0FF4-B163-20F57F6A2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597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5DF1-647D-9905-EEEB-19F0E327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3 : Conservation d'un historique limité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9FD6-E59F-3A0B-7B67-DE499F39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Le processus ETL :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Mise à jour (Shift) </a:t>
            </a:r>
            <a:r>
              <a:rPr lang="fr-FR" dirty="0"/>
              <a:t>: On déplace la valeur qui était "actuelle" vers la colonne "valeur précédente".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Horodatage</a:t>
            </a:r>
            <a:r>
              <a:rPr lang="fr-FR" dirty="0"/>
              <a:t> : On met à jour la colonne de date d'effet avec la date du jour.</a:t>
            </a:r>
          </a:p>
          <a:p>
            <a:pPr lvl="1">
              <a:lnSpc>
                <a:spcPct val="150000"/>
              </a:lnSpc>
            </a:pPr>
            <a:r>
              <a:rPr lang="fr-FR" b="1" dirty="0"/>
              <a:t>Remplacement </a:t>
            </a:r>
            <a:r>
              <a:rPr lang="fr-FR" dirty="0"/>
              <a:t>: On enregistre la nouvelle information dans la colonne "valeur actuelle".</a:t>
            </a:r>
          </a:p>
          <a:p>
            <a:pPr>
              <a:lnSpc>
                <a:spcPct val="150000"/>
              </a:lnSpc>
            </a:pPr>
            <a:r>
              <a:rPr lang="fr-FR" b="1" dirty="0"/>
              <a:t>Objectif</a:t>
            </a:r>
            <a:r>
              <a:rPr lang="fr-FR" dirty="0"/>
              <a:t> : Permettre une comparaison rapide entre l'état présent et l'état immédiatement antérieur sans alourdir la table avec de multiples lignes comme en Type 2.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CB809-0B74-E955-8AA5-6C5760C5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39B7C-A4A3-264C-42D8-3C1C7781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31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3D5FFC-5BCA-D720-1ACF-796741A69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733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2EA4-756D-3B17-D5A4-AA33339A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3 : Conservation d'un historique limité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755F-006A-9F87-8983-55CDCB84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C105-695F-5F2F-84CF-5D205485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32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4E42B8-BF0A-9137-9A01-8F3B2409B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E4E398-DC6A-6005-D9D8-5ACFA72B7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820511"/>
              </p:ext>
            </p:extLst>
          </p:nvPr>
        </p:nvGraphicFramePr>
        <p:xfrm>
          <a:off x="1020008" y="1937162"/>
          <a:ext cx="10151984" cy="8130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0503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839938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854504">
                  <a:extLst>
                    <a:ext uri="{9D8B030D-6E8A-4147-A177-3AD203B41FA5}">
                      <a16:colId xmlns:a16="http://schemas.microsoft.com/office/drawing/2014/main" val="4217655026"/>
                    </a:ext>
                  </a:extLst>
                </a:gridCol>
                <a:gridCol w="2226253">
                  <a:extLst>
                    <a:ext uri="{9D8B030D-6E8A-4147-A177-3AD203B41FA5}">
                      <a16:colId xmlns:a16="http://schemas.microsoft.com/office/drawing/2014/main" val="605830922"/>
                    </a:ext>
                  </a:extLst>
                </a:gridCol>
                <a:gridCol w="2226253">
                  <a:extLst>
                    <a:ext uri="{9D8B030D-6E8A-4147-A177-3AD203B41FA5}">
                      <a16:colId xmlns:a16="http://schemas.microsoft.com/office/drawing/2014/main" val="572352907"/>
                    </a:ext>
                  </a:extLst>
                </a:gridCol>
              </a:tblGrid>
              <a:tr h="376793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JobTitle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PreviousJobTitle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EffectiveDate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554EC-A923-F785-3D19-287584BC5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839078"/>
              </p:ext>
            </p:extLst>
          </p:nvPr>
        </p:nvGraphicFramePr>
        <p:xfrm>
          <a:off x="2586317" y="3294731"/>
          <a:ext cx="5699478" cy="81305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5036">
                  <a:extLst>
                    <a:ext uri="{9D8B030D-6E8A-4147-A177-3AD203B41FA5}">
                      <a16:colId xmlns:a16="http://schemas.microsoft.com/office/drawing/2014/main" val="1873481579"/>
                    </a:ext>
                  </a:extLst>
                </a:gridCol>
                <a:gridCol w="1839938">
                  <a:extLst>
                    <a:ext uri="{9D8B030D-6E8A-4147-A177-3AD203B41FA5}">
                      <a16:colId xmlns:a16="http://schemas.microsoft.com/office/drawing/2014/main" val="2937717763"/>
                    </a:ext>
                  </a:extLst>
                </a:gridCol>
                <a:gridCol w="1854504">
                  <a:extLst>
                    <a:ext uri="{9D8B030D-6E8A-4147-A177-3AD203B41FA5}">
                      <a16:colId xmlns:a16="http://schemas.microsoft.com/office/drawing/2014/main" val="4115267760"/>
                    </a:ext>
                  </a:extLst>
                </a:gridCol>
              </a:tblGrid>
              <a:tr h="376793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JobTitle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584036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Senior DevOps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344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4D58DC-0B95-3764-D374-BDE0E0FB6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48847"/>
              </p:ext>
            </p:extLst>
          </p:nvPr>
        </p:nvGraphicFramePr>
        <p:xfrm>
          <a:off x="1020008" y="4821851"/>
          <a:ext cx="10151984" cy="81305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05036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839938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854504">
                  <a:extLst>
                    <a:ext uri="{9D8B030D-6E8A-4147-A177-3AD203B41FA5}">
                      <a16:colId xmlns:a16="http://schemas.microsoft.com/office/drawing/2014/main" val="4217655026"/>
                    </a:ext>
                  </a:extLst>
                </a:gridCol>
                <a:gridCol w="2226253">
                  <a:extLst>
                    <a:ext uri="{9D8B030D-6E8A-4147-A177-3AD203B41FA5}">
                      <a16:colId xmlns:a16="http://schemas.microsoft.com/office/drawing/2014/main" val="605830922"/>
                    </a:ext>
                  </a:extLst>
                </a:gridCol>
                <a:gridCol w="2226253">
                  <a:extLst>
                    <a:ext uri="{9D8B030D-6E8A-4147-A177-3AD203B41FA5}">
                      <a16:colId xmlns:a16="http://schemas.microsoft.com/office/drawing/2014/main" val="572352907"/>
                    </a:ext>
                  </a:extLst>
                </a:gridCol>
              </a:tblGrid>
              <a:tr h="376793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JobTitle</a:t>
                      </a:r>
                      <a:r>
                        <a:rPr lang="en-GB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PreviousJobTitle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EffectiveDate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436261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Senior 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24/03/2026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37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4409-E9D2-2711-452F-9520D48A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4 : Tableau d'historique séparé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4F0F-BE04-20AE-3522-02BAFAF4C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C'est une amélioration du Type 2 qui permet de garder la table de dimension principale "propre" et performante.</a:t>
            </a:r>
          </a:p>
          <a:p>
            <a:r>
              <a:rPr lang="fr-FR" dirty="0"/>
              <a:t>On sépare les données en deux tables distinctes :</a:t>
            </a:r>
          </a:p>
          <a:p>
            <a:pPr lvl="1"/>
            <a:r>
              <a:rPr lang="fr-FR" b="1" dirty="0"/>
              <a:t>Table de Dimension actuelle</a:t>
            </a:r>
            <a:r>
              <a:rPr lang="fr-FR" dirty="0"/>
              <a:t> : Ne contient que les valeurs les plus récentes (un seul enregistrement par client/produit).</a:t>
            </a:r>
          </a:p>
          <a:p>
            <a:pPr lvl="1"/>
            <a:r>
              <a:rPr lang="fr-FR" b="1" dirty="0"/>
              <a:t>Table Historique </a:t>
            </a:r>
            <a:r>
              <a:rPr lang="fr-FR" dirty="0"/>
              <a:t>: Contient toutes les anciennes versions des enregistrements.</a:t>
            </a:r>
          </a:p>
          <a:p>
            <a:r>
              <a:rPr lang="fr-FR" dirty="0"/>
              <a:t>Gestion des dates :</a:t>
            </a:r>
          </a:p>
          <a:p>
            <a:pPr lvl="1"/>
            <a:r>
              <a:rPr lang="fr-FR" dirty="0"/>
              <a:t>Contrairement au Type 2, une seule colonne </a:t>
            </a:r>
            <a:r>
              <a:rPr lang="fr-FR" dirty="0" err="1"/>
              <a:t>EffectiveDate</a:t>
            </a:r>
            <a:r>
              <a:rPr lang="fr-FR" dirty="0"/>
              <a:t> (Date d'effet) peut suffire dans la table historique pour marquer le moment du changement.</a:t>
            </a:r>
          </a:p>
          <a:p>
            <a:pPr lvl="1"/>
            <a:r>
              <a:rPr lang="fr-FR" dirty="0"/>
              <a:t>Il n'est pas obligatoire d'avoir à la fois une </a:t>
            </a:r>
            <a:r>
              <a:rPr lang="fr-FR" dirty="0" err="1"/>
              <a:t>FromDate</a:t>
            </a:r>
            <a:r>
              <a:rPr lang="fr-FR" dirty="0"/>
              <a:t> et une </a:t>
            </a:r>
            <a:r>
              <a:rPr lang="fr-FR" dirty="0" err="1"/>
              <a:t>ToDate</a:t>
            </a:r>
            <a:r>
              <a:rPr lang="fr-FR" dirty="0"/>
              <a:t> dans ce modèle.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8E444-4890-FF0B-F3A1-6B409EA7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FBD46-F457-CD61-3771-B121698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33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9F7BC2-3344-616C-4CA4-474DEFFC1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1973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1CD7-5273-1491-2E22-61AE2C24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4 : Tableau d'historique séparé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67F4-73ED-7C78-202F-9076C720D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Le processus ETL 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b="1" dirty="0"/>
              <a:t>Archivage</a:t>
            </a:r>
            <a:r>
              <a:rPr lang="fr-FR" dirty="0"/>
              <a:t> : On ajoute un nouvel enregistrement dans la table historique avec la valeur actuelle (qui s'apprête à devenir ancienne) et sa date d'effet.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b="1" dirty="0"/>
              <a:t>Mise à jour </a:t>
            </a:r>
            <a:r>
              <a:rPr lang="fr-FR" dirty="0"/>
              <a:t>: On effectue un </a:t>
            </a:r>
            <a:r>
              <a:rPr lang="fr-FR" b="1" dirty="0"/>
              <a:t>UPDATE</a:t>
            </a:r>
            <a:r>
              <a:rPr lang="fr-FR" dirty="0"/>
              <a:t> de la table de dimension principale avec la nouvelle valeur.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Avantages 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La table de dimension reste petite et rapide pour les requêtes quotidiennes qui ne ciblent que le présent.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On évite de "polluer" la dimension avec des milliers de lignes historiques tout en conservant la capacité d'analyse passée.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3E020-6DCA-81AD-4138-CF2677F6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1C33-13D0-360E-EB22-E65D103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34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1547C1-8D16-54F1-1442-112862FD28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952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E8EC-67E1-1F37-810B-22016CE0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4 : Tableau d'historique séparé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284C-FB6A-3CC6-5E10-7CB2A7AB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7823D-CC4D-A101-B4D3-A4AE0E0A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35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74F269-66DC-2977-4177-1B453B0257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97FB77-0CE9-4840-16EF-F5451F4A7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487624"/>
              </p:ext>
            </p:extLst>
          </p:nvPr>
        </p:nvGraphicFramePr>
        <p:xfrm>
          <a:off x="4793108" y="1572973"/>
          <a:ext cx="6560692" cy="73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0600">
                  <a:extLst>
                    <a:ext uri="{9D8B030D-6E8A-4147-A177-3AD203B41FA5}">
                      <a16:colId xmlns:a16="http://schemas.microsoft.com/office/drawing/2014/main" val="2208956405"/>
                    </a:ext>
                  </a:extLst>
                </a:gridCol>
                <a:gridCol w="171060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</a:tblGrid>
              <a:tr h="284404">
                <a:tc>
                  <a:txBody>
                    <a:bodyPr/>
                    <a:lstStyle/>
                    <a:p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221547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AD3704-3B18-3F4E-2CD1-DACA10AF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9878"/>
              </p:ext>
            </p:extLst>
          </p:nvPr>
        </p:nvGraphicFramePr>
        <p:xfrm>
          <a:off x="4046453" y="3452731"/>
          <a:ext cx="481927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732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59773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59773">
                  <a:extLst>
                    <a:ext uri="{9D8B030D-6E8A-4147-A177-3AD203B41FA5}">
                      <a16:colId xmlns:a16="http://schemas.microsoft.com/office/drawing/2014/main" val="3284563632"/>
                    </a:ext>
                  </a:extLst>
                </a:gridCol>
              </a:tblGrid>
              <a:tr h="349624"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42725"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047CAB-4EA9-832A-2310-354653CEF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41673"/>
              </p:ext>
            </p:extLst>
          </p:nvPr>
        </p:nvGraphicFramePr>
        <p:xfrm>
          <a:off x="2935567" y="2432911"/>
          <a:ext cx="8418233" cy="79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71150">
                  <a:extLst>
                    <a:ext uri="{9D8B030D-6E8A-4147-A177-3AD203B41FA5}">
                      <a16:colId xmlns:a16="http://schemas.microsoft.com/office/drawing/2014/main" val="2208956405"/>
                    </a:ext>
                  </a:extLst>
                </a:gridCol>
                <a:gridCol w="177115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3380807592"/>
                    </a:ext>
                  </a:extLst>
                </a:gridCol>
              </a:tblGrid>
              <a:tr h="405425">
                <a:tc>
                  <a:txBody>
                    <a:bodyPr/>
                    <a:lstStyle/>
                    <a:p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EffectiveDate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94295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05/01/2024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5830017-C3EF-84FB-71C3-6DC5A9D6C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4817"/>
              </p:ext>
            </p:extLst>
          </p:nvPr>
        </p:nvGraphicFramePr>
        <p:xfrm>
          <a:off x="766107" y="4404351"/>
          <a:ext cx="6560692" cy="7522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0600">
                  <a:extLst>
                    <a:ext uri="{9D8B030D-6E8A-4147-A177-3AD203B41FA5}">
                      <a16:colId xmlns:a16="http://schemas.microsoft.com/office/drawing/2014/main" val="2208956405"/>
                    </a:ext>
                  </a:extLst>
                </a:gridCol>
                <a:gridCol w="171060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569746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</a:tblGrid>
              <a:tr h="386498">
                <a:tc>
                  <a:txBody>
                    <a:bodyPr/>
                    <a:lstStyle/>
                    <a:p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3921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Paris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20A8FE-F559-53D4-FEAC-E72483161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44535"/>
              </p:ext>
            </p:extLst>
          </p:nvPr>
        </p:nvGraphicFramePr>
        <p:xfrm>
          <a:off x="766107" y="5266539"/>
          <a:ext cx="8418233" cy="1165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71150">
                  <a:extLst>
                    <a:ext uri="{9D8B030D-6E8A-4147-A177-3AD203B41FA5}">
                      <a16:colId xmlns:a16="http://schemas.microsoft.com/office/drawing/2014/main" val="2208956405"/>
                    </a:ext>
                  </a:extLst>
                </a:gridCol>
                <a:gridCol w="1771150">
                  <a:extLst>
                    <a:ext uri="{9D8B030D-6E8A-4147-A177-3AD203B41FA5}">
                      <a16:colId xmlns:a16="http://schemas.microsoft.com/office/drawing/2014/main" val="3617277209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3143408644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2588947150"/>
                    </a:ext>
                  </a:extLst>
                </a:gridCol>
                <a:gridCol w="1625311">
                  <a:extLst>
                    <a:ext uri="{9D8B030D-6E8A-4147-A177-3AD203B41FA5}">
                      <a16:colId xmlns:a16="http://schemas.microsoft.com/office/drawing/2014/main" val="3380807592"/>
                    </a:ext>
                  </a:extLst>
                </a:gridCol>
              </a:tblGrid>
              <a:tr h="405425">
                <a:tc>
                  <a:txBody>
                    <a:bodyPr/>
                    <a:lstStyle/>
                    <a:p>
                      <a:r>
                        <a:rPr lang="en-GB" dirty="0"/>
                        <a:t>Costumer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Costumer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EffectiveDate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44352"/>
                  </a:ext>
                </a:extLst>
              </a:tr>
              <a:tr h="394295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Marseille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05/01/2024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46234"/>
                  </a:ext>
                </a:extLst>
              </a:tr>
              <a:tr h="274029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Harry Payne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Paris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15/07/2024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4081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47F0B27-2C29-7142-727E-FE6B4A7D555A}"/>
              </a:ext>
            </a:extLst>
          </p:cNvPr>
          <p:cNvSpPr txBox="1"/>
          <p:nvPr/>
        </p:nvSpPr>
        <p:spPr>
          <a:xfrm>
            <a:off x="2998695" y="1754067"/>
            <a:ext cx="16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DimCostumer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28208-C346-6877-D612-26577E0AB815}"/>
              </a:ext>
            </a:extLst>
          </p:cNvPr>
          <p:cNvSpPr txBox="1"/>
          <p:nvPr/>
        </p:nvSpPr>
        <p:spPr>
          <a:xfrm>
            <a:off x="9184340" y="5695391"/>
            <a:ext cx="242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DimCostumerHistory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80C13-D1ED-3922-77E7-C44AC7B96628}"/>
              </a:ext>
            </a:extLst>
          </p:cNvPr>
          <p:cNvSpPr txBox="1"/>
          <p:nvPr/>
        </p:nvSpPr>
        <p:spPr>
          <a:xfrm>
            <a:off x="7642413" y="4536968"/>
            <a:ext cx="16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DimCostumer</a:t>
            </a:r>
            <a:endParaRPr lang="en-GB" b="1" dirty="0"/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773F71FF-EED0-DC41-9F0B-F4C48FA8E8FD}"/>
              </a:ext>
            </a:extLst>
          </p:cNvPr>
          <p:cNvSpPr/>
          <p:nvPr/>
        </p:nvSpPr>
        <p:spPr>
          <a:xfrm>
            <a:off x="9184341" y="3429000"/>
            <a:ext cx="430306" cy="353573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4B5D09CF-50CB-B142-2B7A-08D00912275D}"/>
              </a:ext>
            </a:extLst>
          </p:cNvPr>
          <p:cNvSpPr/>
          <p:nvPr/>
        </p:nvSpPr>
        <p:spPr>
          <a:xfrm rot="11295392">
            <a:off x="9158045" y="3819444"/>
            <a:ext cx="434789" cy="335164"/>
          </a:xfrm>
          <a:prstGeom prst="curvedDownArrow">
            <a:avLst>
              <a:gd name="adj1" fmla="val 25000"/>
              <a:gd name="adj2" fmla="val 50000"/>
              <a:gd name="adj3" fmla="val 19665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A48BF-F593-14BC-7525-9C738F7FB699}"/>
              </a:ext>
            </a:extLst>
          </p:cNvPr>
          <p:cNvSpPr txBox="1"/>
          <p:nvPr/>
        </p:nvSpPr>
        <p:spPr>
          <a:xfrm>
            <a:off x="407892" y="2791866"/>
            <a:ext cx="242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DimCostumerHistory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943690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387A-878F-00D7-C685-AEF608F6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types de SCD moins fréquents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1939-C427-A68A-6C1F-3F4271634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Il s'agit généralement de combinaisons des types précédents ou de structures créées pour simplifier certains processus de liaison.</a:t>
            </a:r>
          </a:p>
          <a:p>
            <a:r>
              <a:rPr lang="fr-FR" dirty="0"/>
              <a:t>Pourquoi sont-ils moins utilisés ? : Leur complexité d'implémentation est élevée par rapport aux cas d'usage restreints qu'ils servent.</a:t>
            </a:r>
          </a:p>
          <a:p>
            <a:r>
              <a:rPr lang="fr-FR" b="1" dirty="0"/>
              <a:t>Type 5 (Combinaison des Types 4 et 1) </a:t>
            </a:r>
            <a:r>
              <a:rPr lang="fr-FR" dirty="0"/>
              <a:t>: Ce modèle utilise une table historique séparée (Type 4) tout en permettant la mise à jour de certains attributs sans historisation (Type 1).</a:t>
            </a:r>
          </a:p>
          <a:p>
            <a:r>
              <a:rPr lang="fr-FR" b="1" dirty="0"/>
              <a:t>Type 6 (Combinaison des Types 1, 2 et 3) </a:t>
            </a:r>
            <a:r>
              <a:rPr lang="fr-FR" dirty="0"/>
              <a:t>: Ce type cumule l'écrasement, l'historisation par nouvelle ligne et l'ajout de colonnes pour les valeurs précédentes ($1 + 2 + 3 = 6$).</a:t>
            </a:r>
          </a:p>
          <a:p>
            <a:r>
              <a:rPr lang="fr-FR" b="1" dirty="0"/>
              <a:t>Type 7 (Utilisation hybride des clés) </a:t>
            </a:r>
            <a:r>
              <a:rPr lang="fr-FR" dirty="0"/>
              <a:t>: Ce modèle est conçu pour simplifier la jointure entre la table des faits et la table de dimension.</a:t>
            </a:r>
          </a:p>
          <a:p>
            <a:pPr lvl="1"/>
            <a:r>
              <a:rPr lang="fr-FR" dirty="0"/>
              <a:t>On enregistre à la fois la </a:t>
            </a:r>
            <a:r>
              <a:rPr lang="fr-FR" dirty="0" err="1"/>
              <a:t>Surrogate</a:t>
            </a:r>
            <a:r>
              <a:rPr lang="fr-FR" dirty="0"/>
              <a:t> Key (Clé de substitution) et la Natural Key (Clé métier/naturelle) directement dans la table des faits.</a:t>
            </a:r>
          </a:p>
          <a:p>
            <a:pPr lvl="1"/>
            <a:r>
              <a:rPr lang="fr-FR" dirty="0"/>
              <a:t>Cela facilite l'accès aux données historiques sans complexifier les requêtes SQL.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090B3-3542-2963-7A2D-78E10881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5FD86-1C74-D027-4075-181EB157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36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AE76D3-F9A9-225B-9866-90691F6D7B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435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D6B7-ECA2-033E-C1FD-21E4D5B0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mettre en œuvre des SCD dans un entrepôt de données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8E7C-926F-6A75-5039-B08B89FE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La gestion des SCD permet d'organiser l'évolution des données, garantissant ainsi l'exactitude historique et la fiabilité des analyses. Voici les étapes clés 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b="1" dirty="0"/>
              <a:t>Étape 1 : Auditer les données existantes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Consultez les tables de dimensions actuelles.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Identifiez les clés et les attributs naturels qui changent au fil du temps.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Vérifiez si le suivi historique est déjà en place.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b="1" dirty="0"/>
              <a:t>Étape 2 : Prioriser les zones problématiques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Concentrez-vous sur les dimensions où l'écrasement des valeurs (par exemple, </a:t>
            </a:r>
            <a:r>
              <a:rPr lang="fr-FR" dirty="0" err="1"/>
              <a:t>customer_segment</a:t>
            </a:r>
            <a:r>
              <a:rPr lang="fr-FR" dirty="0"/>
              <a:t> , </a:t>
            </a:r>
            <a:r>
              <a:rPr lang="fr-FR" dirty="0" err="1"/>
              <a:t>product_pricing</a:t>
            </a:r>
            <a:r>
              <a:rPr lang="fr-FR" dirty="0"/>
              <a:t> ) entraîne la perte du contexte historique.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Il s’agit des risques les plus élevés en matière d’erreurs de signalement.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39A85-75A0-B2F0-6682-6C12D497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02998-6C68-F6C9-A325-52A46810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37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10A1C3-A254-32FC-C6E7-6DF31D94A0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887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02FB-DC98-BAAC-C2B7-80C9EA23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mettre en œuvre des SCD dans un entrepôt de données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9715-4C35-CCE9-49D8-172F7B676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b="1" dirty="0"/>
              <a:t>Étape 3 : Choisissez le bon type de SCD, il faut considérer 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Fréquence du changement (rare vs. fréquent).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Besoin commercial d’historique (état actuel par rapport à la chronologie complète).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Exigences analytiques (analyse des tendances, conformité, prévision).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b="1" dirty="0"/>
              <a:t>Étape 4 : gérer les données héritées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Option 1 : repartir à zéro – suivre uniquement les modifications ultérieures.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Option 2 : Remblai – reconstruire les enregistrements historiques à partir d’instantanés ou de journaux si les besoins de l’entreprise l’exigent.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BF31-F9C7-3433-2EA7-07D681ED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39EB6-C206-9AD9-A9EC-2EDAC7BE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38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4CDB17-17EF-7FAA-2FAA-3EC4496D0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161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2F85-A78A-3B3C-F9CA-8FF3EFAA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mettre en œuvre SCD dans un entrepôt de données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A2C20-C774-4282-94A9-6A082293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b="1" dirty="0"/>
              <a:t>Étape 5 : Créer une logique dans les pipelines ETL/ELT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Détecter les modifications : utilisez une stratégie de hachage sur les colonnes suivies pour signaler efficacement les mises à jour.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Ajoutez des métadonnées : inclure des clés de substitution, des plages de validité ( </a:t>
            </a:r>
            <a:r>
              <a:rPr lang="fr-FR" dirty="0" err="1"/>
              <a:t>valid_from</a:t>
            </a:r>
            <a:r>
              <a:rPr lang="fr-FR" dirty="0"/>
              <a:t> , </a:t>
            </a:r>
            <a:r>
              <a:rPr lang="fr-FR" dirty="0" err="1"/>
              <a:t>valid_to</a:t>
            </a:r>
            <a:r>
              <a:rPr lang="fr-FR" dirty="0"/>
              <a:t> ) et des indicateurs ( </a:t>
            </a:r>
            <a:r>
              <a:rPr lang="fr-FR" dirty="0" err="1"/>
              <a:t>is_current</a:t>
            </a:r>
            <a:r>
              <a:rPr lang="fr-FR" dirty="0"/>
              <a:t> ) pour conserver le contexte.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fr-FR" dirty="0"/>
              <a:t>Cette approche structurée garantit l’intégrité des données, prend en charge les besoins opérationnels et analytiques et rend les tendances historiques visibles sans surcharger le système.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24CC7-58CF-BB6F-1023-A604AD1B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7DC30-D935-44CD-C4D2-A37C6735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39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FBCAB8-3A27-A375-614B-5BB52FDE6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669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28BA-7B0D-EEB9-E9E4-5AF80F5D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Techniques de gestion des dimensions à évolution lente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CE8B3-5167-166A-A21B-FEC431B1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EBCA1-D013-A8A9-9397-707330EC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40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E9E8CE-395C-AA97-0764-D6CF3B7E17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62064A-B110-573B-A633-A0130382D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370013"/>
              </p:ext>
            </p:extLst>
          </p:nvPr>
        </p:nvGraphicFramePr>
        <p:xfrm>
          <a:off x="838200" y="1612934"/>
          <a:ext cx="10607160" cy="42298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0054">
                  <a:extLst>
                    <a:ext uri="{9D8B030D-6E8A-4147-A177-3AD203B41FA5}">
                      <a16:colId xmlns:a16="http://schemas.microsoft.com/office/drawing/2014/main" val="3696215792"/>
                    </a:ext>
                  </a:extLst>
                </a:gridCol>
                <a:gridCol w="1465729">
                  <a:extLst>
                    <a:ext uri="{9D8B030D-6E8A-4147-A177-3AD203B41FA5}">
                      <a16:colId xmlns:a16="http://schemas.microsoft.com/office/drawing/2014/main" val="345547660"/>
                    </a:ext>
                  </a:extLst>
                </a:gridCol>
                <a:gridCol w="2588559">
                  <a:extLst>
                    <a:ext uri="{9D8B030D-6E8A-4147-A177-3AD203B41FA5}">
                      <a16:colId xmlns:a16="http://schemas.microsoft.com/office/drawing/2014/main" val="269250842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434034550"/>
                    </a:ext>
                  </a:extLst>
                </a:gridCol>
                <a:gridCol w="2662518">
                  <a:extLst>
                    <a:ext uri="{9D8B030D-6E8A-4147-A177-3AD203B41FA5}">
                      <a16:colId xmlns:a16="http://schemas.microsoft.com/office/drawing/2014/main" val="3809707781"/>
                    </a:ext>
                  </a:extLst>
                </a:gridCol>
              </a:tblGrid>
              <a:tr h="5002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Technique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Concept Clé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Conservation de l'Histoire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Impact sur le Stockage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Cas d'utilisation idéal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2572516157"/>
                  </a:ext>
                </a:extLst>
              </a:tr>
              <a:tr h="7206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SCD Type 0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Immuabilité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Aucune (valeur d'origine)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Faible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Données fixes (ex: Date de naissance, ID racine).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1649022528"/>
                  </a:ext>
                </a:extLst>
              </a:tr>
              <a:tr h="7206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SCD Type 1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Écrasement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Aucune (perte du passé)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dirty="0">
                          <a:solidFill>
                            <a:srgbClr val="1F1F1F"/>
                          </a:solidFill>
                          <a:effectLst/>
                        </a:rPr>
                        <a:t>Faible</a:t>
                      </a:r>
                      <a:endParaRPr lang="fr-FR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Correction d'erreurs (ex: faute de frappe dans un nom).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2509658785"/>
                  </a:ext>
                </a:extLst>
              </a:tr>
              <a:tr h="846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SCD Type 2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Historisation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Totale</a:t>
                      </a: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 (nouvelle ligne)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Élevé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Changements stratégiques (ex: déménagement client).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3444011864"/>
                  </a:ext>
                </a:extLst>
              </a:tr>
              <a:tr h="7206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SCD Type 3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Mixte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dirty="0">
                          <a:solidFill>
                            <a:srgbClr val="1F1F1F"/>
                          </a:solidFill>
                          <a:effectLst/>
                        </a:rPr>
                        <a:t>Partielle (valeur N-1)</a:t>
                      </a:r>
                      <a:endParaRPr lang="fr-FR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Moyen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dirty="0">
                          <a:solidFill>
                            <a:srgbClr val="1F1F1F"/>
                          </a:solidFill>
                          <a:effectLst/>
                        </a:rPr>
                        <a:t>Comparaison rapide (ex: poste actuel vs précédent).</a:t>
                      </a:r>
                      <a:endParaRPr lang="fr-FR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241409654"/>
                  </a:ext>
                </a:extLst>
              </a:tr>
              <a:tr h="7206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 dirty="0">
                          <a:solidFill>
                            <a:srgbClr val="1F1F1F"/>
                          </a:solidFill>
                          <a:effectLst/>
                        </a:rPr>
                        <a:t>SCD Type 4</a:t>
                      </a:r>
                      <a:endParaRPr lang="fr-FR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b="1">
                          <a:solidFill>
                            <a:srgbClr val="1F1F1F"/>
                          </a:solidFill>
                          <a:effectLst/>
                        </a:rPr>
                        <a:t>Séparation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Totale (via table archive)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>
                          <a:solidFill>
                            <a:srgbClr val="1F1F1F"/>
                          </a:solidFill>
                          <a:effectLst/>
                        </a:rPr>
                        <a:t>Élevé (mais table principale propre)</a:t>
                      </a:r>
                      <a:endParaRPr lang="fr-F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500" dirty="0">
                          <a:solidFill>
                            <a:srgbClr val="1F1F1F"/>
                          </a:solidFill>
                          <a:effectLst/>
                        </a:rPr>
                        <a:t>Gros volumes où l'on veut garder une dimension rapide.</a:t>
                      </a:r>
                      <a:endParaRPr lang="fr-FR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095" marR="46095" marT="30730" marB="30730" anchor="ctr"/>
                </a:tc>
                <a:extLst>
                  <a:ext uri="{0D108BD9-81ED-4DB2-BD59-A6C34878D82A}">
                    <a16:rowId xmlns:a16="http://schemas.microsoft.com/office/drawing/2014/main" val="2163595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047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5F58-3AC8-08D9-14BF-4E08E3EF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200D06-D4F1-C891-3084-8DE936A3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ABE1B-60A4-48AC-A9CB-287974B2B5F2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D08E4C-2C3F-88FA-D5DA-7BC2FDDB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41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8DAF19C-9BDC-F1FC-EAD7-42A0D00AA9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" dirty="0"/>
              <a:t>Titre du cours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700874A-9E8E-8F88-6CAF-5AD1BB3C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690030"/>
            <a:ext cx="10502900" cy="2808823"/>
          </a:xfrm>
        </p:spPr>
        <p:txBody>
          <a:bodyPr/>
          <a:lstStyle/>
          <a:p>
            <a:pPr algn="ctr">
              <a:lnSpc>
                <a:spcPct val="130000"/>
              </a:lnSpc>
            </a:pPr>
            <a:r>
              <a:rPr lang="fr" dirty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9718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1F02-054F-0D3E-3BE2-5BAD5E99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Du stockage à l'intelligence décisionnelle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3A01-4B8D-E465-0DA5-B7A0515D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modélisation comme fondation</a:t>
            </a:r>
          </a:p>
          <a:p>
            <a:pPr lvl="1"/>
            <a:r>
              <a:rPr lang="fr-FR" dirty="0"/>
              <a:t>La modélisation n'est pas une simple organisation technique ; elle sert à structurer les données pour l’analyse.</a:t>
            </a:r>
          </a:p>
          <a:p>
            <a:pPr lvl="1"/>
            <a:r>
              <a:rPr lang="fr-FR" dirty="0"/>
              <a:t>Elle garantit que l'information est orientée sujet, intégrée et surtout historisée (aspect crucial du DWH).</a:t>
            </a:r>
          </a:p>
          <a:p>
            <a:r>
              <a:rPr lang="fr-FR" b="1" dirty="0"/>
              <a:t>Les points de vigilance du modélisateur</a:t>
            </a:r>
          </a:p>
          <a:p>
            <a:pPr lvl="1"/>
            <a:r>
              <a:rPr lang="fr-FR" b="1" dirty="0"/>
              <a:t>La Granularité :</a:t>
            </a:r>
            <a:r>
              <a:rPr lang="fr-FR" dirty="0"/>
              <a:t> Toujours choisir le niveau de détail le plus fin pour ne pas limiter les analyses futures.</a:t>
            </a:r>
          </a:p>
          <a:p>
            <a:pPr lvl="1"/>
            <a:r>
              <a:rPr lang="fr-FR" b="1" dirty="0"/>
              <a:t>La Qualité :</a:t>
            </a:r>
            <a:r>
              <a:rPr lang="fr-FR" dirty="0"/>
              <a:t> Appliquer des contraintes strictes (unicité, domaines) pour que le Data Warehouse reste la "source de vérité" de l'entreprise.</a:t>
            </a:r>
          </a:p>
          <a:p>
            <a:pPr lvl="1"/>
            <a:r>
              <a:rPr lang="fr-FR" b="1" dirty="0"/>
              <a:t>L'Historisation (SCD) :</a:t>
            </a:r>
            <a:r>
              <a:rPr lang="fr-FR" dirty="0"/>
              <a:t> Choisir la bonne stratégie (Type 1, 2, 4...) selon que l'on privilégie la performance ou la richesse de l'historique.</a:t>
            </a:r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F76E8-4537-97B7-D568-FC37E753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5C26B-0F4F-4E92-A5AB-A06A7E8865CA}" type="datetimeyyyy">
              <a:rPr lang="fr-FR" smtClean="0"/>
              <a:t>2026</a:t>
            </a:fld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B1FC6-1915-ADE8-53A4-FDCE4946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42</a:t>
            </a:fld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6DB7E0-6070-C622-184C-AEDA29D23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622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EC634A-A36E-3CA8-04E1-A5B034B5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7A63F-C241-4404-9972-321D22827E34}" type="datetimeyyyy">
              <a:rPr lang="fr-FR" smtClean="0"/>
              <a:t>2026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6B6D848-FBF5-B8E5-81C2-C3C3809533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3F4F7-518B-459F-9B80-EE04630AFE87}" type="slidenum">
              <a:rPr lang="fr-FR" smtClean="0"/>
              <a:t>43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DEE8A0-588F-1F2F-8838-DEA0F8304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" dirty="0"/>
              <a:t>Titre du 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102E2D-DC11-F088-43C5-6F2713D593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" dirty="0"/>
              <a:t>pedagogie@caplogy.com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601E29-A20B-CC21-A466-EE5316BD68BF}"/>
              </a:ext>
            </a:extLst>
          </p:cNvPr>
          <p:cNvSpPr txBox="1"/>
          <p:nvPr/>
        </p:nvSpPr>
        <p:spPr>
          <a:xfrm>
            <a:off x="5416234" y="3429000"/>
            <a:ext cx="4913671" cy="830997"/>
          </a:xfrm>
          <a:prstGeom prst="rect">
            <a:avLst/>
          </a:prstGeom>
          <a:solidFill>
            <a:srgbClr val="F4F4F6"/>
          </a:solidFill>
        </p:spPr>
        <p:txBody>
          <a:bodyPr wrap="square" rtlCol="0">
            <a:spAutoFit/>
          </a:bodyPr>
          <a:lstStyle/>
          <a:p>
            <a:r>
              <a:rPr lang="fr" sz="4800" b="1" dirty="0">
                <a:solidFill>
                  <a:schemeClr val="tx2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706279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7252</TotalTime>
  <Words>3758</Words>
  <Application>Microsoft Office PowerPoint</Application>
  <PresentationFormat>Widescreen</PresentationFormat>
  <Paragraphs>474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Arial</vt:lpstr>
      <vt:lpstr>Calibri</vt:lpstr>
      <vt:lpstr>Georgia</vt:lpstr>
      <vt:lpstr>Google Sans Text</vt:lpstr>
      <vt:lpstr>Wingdings</vt:lpstr>
      <vt:lpstr>Thème Office</vt:lpstr>
      <vt:lpstr> La modélisation dimentionnelle des données </vt:lpstr>
      <vt:lpstr>Objectifs du cours</vt:lpstr>
      <vt:lpstr>Plan de cours</vt:lpstr>
      <vt:lpstr>Introduction</vt:lpstr>
      <vt:lpstr>Qu'est-ce qu'un Data Warehouse (DWH) ?</vt:lpstr>
      <vt:lpstr>Les 4 Piliers du Data Warehouse</vt:lpstr>
      <vt:lpstr>Les 4 Piliers du Data Warehouse</vt:lpstr>
      <vt:lpstr>La rupture avec la modélisation classique</vt:lpstr>
      <vt:lpstr>Pourquoi ne pas utiliser les modèles classiques ?</vt:lpstr>
      <vt:lpstr>La modélisation dimensionnelle des données </vt:lpstr>
      <vt:lpstr>Introduction au Modèle Dimensionnel</vt:lpstr>
      <vt:lpstr>La Table des Faits (The Fact Table)</vt:lpstr>
      <vt:lpstr>La Table des Faits (The Fact Table)</vt:lpstr>
      <vt:lpstr>Les Tables de Dimensions</vt:lpstr>
      <vt:lpstr>Types de schémas d'entrepôt de données</vt:lpstr>
      <vt:lpstr> Schéma en étoile </vt:lpstr>
      <vt:lpstr>Schéma du flocon de neige</vt:lpstr>
      <vt:lpstr>Slowly Changing Demensions SCD</vt:lpstr>
      <vt:lpstr>Les dimensions à évolution lente (SCD) ?</vt:lpstr>
      <vt:lpstr>Principales caractéristiques des SCD</vt:lpstr>
      <vt:lpstr>Types de dimensions à évolution lente</vt:lpstr>
      <vt:lpstr>Type 0 (L'Immuabilité)</vt:lpstr>
      <vt:lpstr>Type 0 (L'Immuabilité)</vt:lpstr>
      <vt:lpstr>Type 1 : Mise à jour de l'original (Écrasement)</vt:lpstr>
      <vt:lpstr>Type 1 : Mise à jour de l'original (Écrasement)</vt:lpstr>
      <vt:lpstr>Type 1 : Mise à jour de l'original (Écrasement)</vt:lpstr>
      <vt:lpstr>Type 2 : Conservation de l'historique complet</vt:lpstr>
      <vt:lpstr>Type 2 : Conservation de l'historique complet</vt:lpstr>
      <vt:lpstr>Type 2 : Conservation de l'historique complet</vt:lpstr>
      <vt:lpstr>Type 3 : Conservation d'un historique limité</vt:lpstr>
      <vt:lpstr>Type 3 : Conservation d'un historique limité</vt:lpstr>
      <vt:lpstr>Type 3 : Conservation d'un historique limité</vt:lpstr>
      <vt:lpstr>Type 4 : Tableau d'historique séparé</vt:lpstr>
      <vt:lpstr>Type 4 : Tableau d'historique séparé</vt:lpstr>
      <vt:lpstr>Type 4 : Tableau d'historique séparé</vt:lpstr>
      <vt:lpstr>Les types de SCD moins fréquents</vt:lpstr>
      <vt:lpstr>Comment mettre en œuvre des SCD dans un entrepôt de données ?</vt:lpstr>
      <vt:lpstr>Comment mettre en œuvre des SCD dans un entrepôt de données ?</vt:lpstr>
      <vt:lpstr>Comment mettre en œuvre SCD dans un entrepôt de données ?</vt:lpstr>
      <vt:lpstr>Techniques de gestion des dimensions à évolution lente</vt:lpstr>
      <vt:lpstr>Conclusion</vt:lpstr>
      <vt:lpstr>Du stockage à l'intelligence décisionnelle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 HACHEM</dc:creator>
  <cp:lastModifiedBy>BOUCHLAGHEM Lydia</cp:lastModifiedBy>
  <cp:revision>31</cp:revision>
  <dcterms:created xsi:type="dcterms:W3CDTF">2025-01-24T08:49:55Z</dcterms:created>
  <dcterms:modified xsi:type="dcterms:W3CDTF">2026-02-06T15:02:58Z</dcterms:modified>
</cp:coreProperties>
</file>